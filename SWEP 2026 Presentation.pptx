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87" r:id="rId3"/>
    <p:sldMasterId id="2147483700" r:id="rId4"/>
  </p:sldMasterIdLst>
  <p:notesMasterIdLst>
    <p:notesMasterId r:id="rId44"/>
  </p:notesMasterIdLst>
  <p:sldIdLst>
    <p:sldId id="393" r:id="rId5"/>
    <p:sldId id="257" r:id="rId6"/>
    <p:sldId id="372" r:id="rId7"/>
    <p:sldId id="394" r:id="rId8"/>
    <p:sldId id="266" r:id="rId9"/>
    <p:sldId id="395" r:id="rId10"/>
    <p:sldId id="396" r:id="rId11"/>
    <p:sldId id="410" r:id="rId12"/>
    <p:sldId id="397" r:id="rId13"/>
    <p:sldId id="398" r:id="rId14"/>
    <p:sldId id="399" r:id="rId15"/>
    <p:sldId id="400" r:id="rId16"/>
    <p:sldId id="401" r:id="rId17"/>
    <p:sldId id="402" r:id="rId18"/>
    <p:sldId id="403" r:id="rId19"/>
    <p:sldId id="406" r:id="rId20"/>
    <p:sldId id="407" r:id="rId21"/>
    <p:sldId id="408" r:id="rId22"/>
    <p:sldId id="409" r:id="rId23"/>
    <p:sldId id="411" r:id="rId24"/>
    <p:sldId id="412" r:id="rId25"/>
    <p:sldId id="413" r:id="rId26"/>
    <p:sldId id="414" r:id="rId27"/>
    <p:sldId id="415" r:id="rId28"/>
    <p:sldId id="416" r:id="rId29"/>
    <p:sldId id="417" r:id="rId30"/>
    <p:sldId id="419" r:id="rId31"/>
    <p:sldId id="420" r:id="rId32"/>
    <p:sldId id="421" r:id="rId33"/>
    <p:sldId id="422" r:id="rId34"/>
    <p:sldId id="423" r:id="rId35"/>
    <p:sldId id="424" r:id="rId36"/>
    <p:sldId id="425" r:id="rId37"/>
    <p:sldId id="426" r:id="rId38"/>
    <p:sldId id="427" r:id="rId39"/>
    <p:sldId id="428" r:id="rId40"/>
    <p:sldId id="429" r:id="rId41"/>
    <p:sldId id="283" r:id="rId42"/>
    <p:sldId id="430" r:id="rId43"/>
  </p:sldIdLst>
  <p:sldSz cx="9144000" cy="6858000" type="screen4x3"/>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77F9130B-3B8D-4BA3-9F10-72E9E255DFD2}" type="datetimeFigureOut">
              <a:rPr lang="en-US" smtClean="0"/>
              <a:t>9/15/2026</a:t>
            </a:fld>
            <a:endParaRPr lang="en-US"/>
          </a:p>
        </p:txBody>
      </p:sp>
      <p:sp>
        <p:nvSpPr>
          <p:cNvPr id="4" name="Slide Image Placeholder 3"/>
          <p:cNvSpPr>
            <a:spLocks noGrp="1" noRot="1" noChangeAspect="1"/>
          </p:cNvSpPr>
          <p:nvPr>
            <p:ph type="sldImg" idx="2"/>
          </p:nvPr>
        </p:nvSpPr>
        <p:spPr>
          <a:xfrm>
            <a:off x="1624013" y="1257300"/>
            <a:ext cx="4524375"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0CEDCE96-B057-4C20-954F-D5F7CA5E7369}" type="slidenum">
              <a:rPr lang="en-US" smtClean="0"/>
              <a:t>‹#›</a:t>
            </a:fld>
            <a:endParaRPr lang="en-US"/>
          </a:p>
        </p:txBody>
      </p:sp>
    </p:spTree>
    <p:extLst>
      <p:ext uri="{BB962C8B-B14F-4D97-AF65-F5344CB8AC3E}">
        <p14:creationId xmlns:p14="http://schemas.microsoft.com/office/powerpoint/2010/main" val="187940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CEDCE96-B057-4C20-954F-D5F7CA5E7369}" type="slidenum">
              <a:rPr lang="en-US" smtClean="0"/>
              <a:t>2</a:t>
            </a:fld>
            <a:endParaRPr lang="en-US"/>
          </a:p>
        </p:txBody>
      </p:sp>
    </p:spTree>
    <p:extLst>
      <p:ext uri="{BB962C8B-B14F-4D97-AF65-F5344CB8AC3E}">
        <p14:creationId xmlns:p14="http://schemas.microsoft.com/office/powerpoint/2010/main" val="1031425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6"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8" name="PlaceHolder 2"/>
          <p:cNvSpPr>
            <a:spLocks noGrp="1"/>
          </p:cNvSpPr>
          <p:nvPr>
            <p:ph type="body"/>
          </p:nvPr>
        </p:nvSpPr>
        <p:spPr>
          <a:xfrm>
            <a:off x="457200" y="1604520"/>
            <a:ext cx="822924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0" name="PlaceHolder 2"/>
          <p:cNvSpPr>
            <a:spLocks noGrp="1"/>
          </p:cNvSpPr>
          <p:nvPr>
            <p:ph type="body"/>
          </p:nvPr>
        </p:nvSpPr>
        <p:spPr>
          <a:xfrm>
            <a:off x="457200" y="1604520"/>
            <a:ext cx="401580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11" name="PlaceHolder 3"/>
          <p:cNvSpPr>
            <a:spLocks noGrp="1"/>
          </p:cNvSpPr>
          <p:nvPr>
            <p:ph type="body"/>
          </p:nvPr>
        </p:nvSpPr>
        <p:spPr>
          <a:xfrm>
            <a:off x="4674240" y="1604520"/>
            <a:ext cx="401580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5" name="PlaceHolder 2"/>
          <p:cNvSpPr>
            <a:spLocks noGrp="1"/>
          </p:cNvSpPr>
          <p:nvPr>
            <p:ph type="body"/>
          </p:nvPr>
        </p:nvSpPr>
        <p:spPr>
          <a:xfrm>
            <a:off x="45720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16" name="PlaceHolder 3"/>
          <p:cNvSpPr>
            <a:spLocks noGrp="1"/>
          </p:cNvSpPr>
          <p:nvPr>
            <p:ph type="body"/>
          </p:nvPr>
        </p:nvSpPr>
        <p:spPr>
          <a:xfrm>
            <a:off x="457200" y="368208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17" name="PlaceHolder 4"/>
          <p:cNvSpPr>
            <a:spLocks noGrp="1"/>
          </p:cNvSpPr>
          <p:nvPr>
            <p:ph type="body"/>
          </p:nvPr>
        </p:nvSpPr>
        <p:spPr>
          <a:xfrm>
            <a:off x="4674240" y="1604520"/>
            <a:ext cx="401580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9" name="PlaceHolder 2"/>
          <p:cNvSpPr>
            <a:spLocks noGrp="1"/>
          </p:cNvSpPr>
          <p:nvPr>
            <p:ph type="body"/>
          </p:nvPr>
        </p:nvSpPr>
        <p:spPr>
          <a:xfrm>
            <a:off x="457200" y="1604520"/>
            <a:ext cx="401580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20" name="PlaceHolder 3"/>
          <p:cNvSpPr>
            <a:spLocks noGrp="1"/>
          </p:cNvSpPr>
          <p:nvPr>
            <p:ph type="body"/>
          </p:nvPr>
        </p:nvSpPr>
        <p:spPr>
          <a:xfrm>
            <a:off x="467424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21" name="PlaceHolder 4"/>
          <p:cNvSpPr>
            <a:spLocks noGrp="1"/>
          </p:cNvSpPr>
          <p:nvPr>
            <p:ph type="body"/>
          </p:nvPr>
        </p:nvSpPr>
        <p:spPr>
          <a:xfrm>
            <a:off x="4674240" y="368208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23" name="PlaceHolder 2"/>
          <p:cNvSpPr>
            <a:spLocks noGrp="1"/>
          </p:cNvSpPr>
          <p:nvPr>
            <p:ph type="body"/>
          </p:nvPr>
        </p:nvSpPr>
        <p:spPr>
          <a:xfrm>
            <a:off x="45720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24" name="PlaceHolder 3"/>
          <p:cNvSpPr>
            <a:spLocks noGrp="1"/>
          </p:cNvSpPr>
          <p:nvPr>
            <p:ph type="body"/>
          </p:nvPr>
        </p:nvSpPr>
        <p:spPr>
          <a:xfrm>
            <a:off x="467424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25" name="PlaceHolder 4"/>
          <p:cNvSpPr>
            <a:spLocks noGrp="1"/>
          </p:cNvSpPr>
          <p:nvPr>
            <p:ph type="body"/>
          </p:nvPr>
        </p:nvSpPr>
        <p:spPr>
          <a:xfrm>
            <a:off x="457200" y="3682080"/>
            <a:ext cx="822924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27" name="PlaceHolder 2"/>
          <p:cNvSpPr>
            <a:spLocks noGrp="1"/>
          </p:cNvSpPr>
          <p:nvPr>
            <p:ph type="body"/>
          </p:nvPr>
        </p:nvSpPr>
        <p:spPr>
          <a:xfrm>
            <a:off x="457200" y="1604520"/>
            <a:ext cx="822924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28" name="PlaceHolder 3"/>
          <p:cNvSpPr>
            <a:spLocks noGrp="1"/>
          </p:cNvSpPr>
          <p:nvPr>
            <p:ph type="body"/>
          </p:nvPr>
        </p:nvSpPr>
        <p:spPr>
          <a:xfrm>
            <a:off x="457200" y="3682080"/>
            <a:ext cx="822924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31" name="PlaceHolder 3"/>
          <p:cNvSpPr>
            <a:spLocks noGrp="1"/>
          </p:cNvSpPr>
          <p:nvPr>
            <p:ph type="body"/>
          </p:nvPr>
        </p:nvSpPr>
        <p:spPr>
          <a:xfrm>
            <a:off x="467424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32" name="PlaceHolder 4"/>
          <p:cNvSpPr>
            <a:spLocks noGrp="1"/>
          </p:cNvSpPr>
          <p:nvPr>
            <p:ph type="body"/>
          </p:nvPr>
        </p:nvSpPr>
        <p:spPr>
          <a:xfrm>
            <a:off x="4674240" y="368208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33" name="PlaceHolder 5"/>
          <p:cNvSpPr>
            <a:spLocks noGrp="1"/>
          </p:cNvSpPr>
          <p:nvPr>
            <p:ph type="body"/>
          </p:nvPr>
        </p:nvSpPr>
        <p:spPr>
          <a:xfrm>
            <a:off x="457200" y="368208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35" name="PlaceHolder 2"/>
          <p:cNvSpPr>
            <a:spLocks noGrp="1"/>
          </p:cNvSpPr>
          <p:nvPr>
            <p:ph type="body"/>
          </p:nvPr>
        </p:nvSpPr>
        <p:spPr>
          <a:xfrm>
            <a:off x="457200" y="1604520"/>
            <a:ext cx="822924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36" name="PlaceHolder 3"/>
          <p:cNvSpPr>
            <a:spLocks noGrp="1"/>
          </p:cNvSpPr>
          <p:nvPr>
            <p:ph type="body"/>
          </p:nvPr>
        </p:nvSpPr>
        <p:spPr>
          <a:xfrm>
            <a:off x="457200" y="1604520"/>
            <a:ext cx="822924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pic>
        <p:nvPicPr>
          <p:cNvPr id="37" name="Picture 36"/>
          <p:cNvPicPr/>
          <p:nvPr/>
        </p:nvPicPr>
        <p:blipFill>
          <a:blip r:embed="rId2"/>
          <a:stretch/>
        </p:blipFill>
        <p:spPr>
          <a:xfrm>
            <a:off x="2079000" y="1604520"/>
            <a:ext cx="4985280" cy="3977280"/>
          </a:xfrm>
          <a:prstGeom prst="rect">
            <a:avLst/>
          </a:prstGeom>
          <a:ln>
            <a:noFill/>
          </a:ln>
        </p:spPr>
      </p:pic>
      <p:pic>
        <p:nvPicPr>
          <p:cNvPr id="38" name="Picture 37"/>
          <p:cNvPicPr/>
          <p:nvPr/>
        </p:nvPicPr>
        <p:blipFill>
          <a:blip r:embed="rId2"/>
          <a:stretch/>
        </p:blipFill>
        <p:spPr>
          <a:xfrm>
            <a:off x="2079000" y="1604520"/>
            <a:ext cx="4985280" cy="397728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45"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47" name="PlaceHolder 2"/>
          <p:cNvSpPr>
            <a:spLocks noGrp="1"/>
          </p:cNvSpPr>
          <p:nvPr>
            <p:ph type="body"/>
          </p:nvPr>
        </p:nvSpPr>
        <p:spPr>
          <a:xfrm>
            <a:off x="457200" y="1604520"/>
            <a:ext cx="822924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49" name="PlaceHolder 2"/>
          <p:cNvSpPr>
            <a:spLocks noGrp="1"/>
          </p:cNvSpPr>
          <p:nvPr>
            <p:ph type="body"/>
          </p:nvPr>
        </p:nvSpPr>
        <p:spPr>
          <a:xfrm>
            <a:off x="457200" y="1604520"/>
            <a:ext cx="401580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50" name="PlaceHolder 3"/>
          <p:cNvSpPr>
            <a:spLocks noGrp="1"/>
          </p:cNvSpPr>
          <p:nvPr>
            <p:ph type="body"/>
          </p:nvPr>
        </p:nvSpPr>
        <p:spPr>
          <a:xfrm>
            <a:off x="4674240" y="1604520"/>
            <a:ext cx="401580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54" name="PlaceHolder 2"/>
          <p:cNvSpPr>
            <a:spLocks noGrp="1"/>
          </p:cNvSpPr>
          <p:nvPr>
            <p:ph type="body"/>
          </p:nvPr>
        </p:nvSpPr>
        <p:spPr>
          <a:xfrm>
            <a:off x="45720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55" name="PlaceHolder 3"/>
          <p:cNvSpPr>
            <a:spLocks noGrp="1"/>
          </p:cNvSpPr>
          <p:nvPr>
            <p:ph type="body"/>
          </p:nvPr>
        </p:nvSpPr>
        <p:spPr>
          <a:xfrm>
            <a:off x="457200" y="368208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56" name="PlaceHolder 4"/>
          <p:cNvSpPr>
            <a:spLocks noGrp="1"/>
          </p:cNvSpPr>
          <p:nvPr>
            <p:ph type="body"/>
          </p:nvPr>
        </p:nvSpPr>
        <p:spPr>
          <a:xfrm>
            <a:off x="4674240" y="1604520"/>
            <a:ext cx="401580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58" name="PlaceHolder 2"/>
          <p:cNvSpPr>
            <a:spLocks noGrp="1"/>
          </p:cNvSpPr>
          <p:nvPr>
            <p:ph type="body"/>
          </p:nvPr>
        </p:nvSpPr>
        <p:spPr>
          <a:xfrm>
            <a:off x="457200" y="1604520"/>
            <a:ext cx="401580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59" name="PlaceHolder 3"/>
          <p:cNvSpPr>
            <a:spLocks noGrp="1"/>
          </p:cNvSpPr>
          <p:nvPr>
            <p:ph type="body"/>
          </p:nvPr>
        </p:nvSpPr>
        <p:spPr>
          <a:xfrm>
            <a:off x="467424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60" name="PlaceHolder 4"/>
          <p:cNvSpPr>
            <a:spLocks noGrp="1"/>
          </p:cNvSpPr>
          <p:nvPr>
            <p:ph type="body"/>
          </p:nvPr>
        </p:nvSpPr>
        <p:spPr>
          <a:xfrm>
            <a:off x="4674240" y="368208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62" name="PlaceHolder 2"/>
          <p:cNvSpPr>
            <a:spLocks noGrp="1"/>
          </p:cNvSpPr>
          <p:nvPr>
            <p:ph type="body"/>
          </p:nvPr>
        </p:nvSpPr>
        <p:spPr>
          <a:xfrm>
            <a:off x="45720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63" name="PlaceHolder 3"/>
          <p:cNvSpPr>
            <a:spLocks noGrp="1"/>
          </p:cNvSpPr>
          <p:nvPr>
            <p:ph type="body"/>
          </p:nvPr>
        </p:nvSpPr>
        <p:spPr>
          <a:xfrm>
            <a:off x="467424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64" name="PlaceHolder 4"/>
          <p:cNvSpPr>
            <a:spLocks noGrp="1"/>
          </p:cNvSpPr>
          <p:nvPr>
            <p:ph type="body"/>
          </p:nvPr>
        </p:nvSpPr>
        <p:spPr>
          <a:xfrm>
            <a:off x="457200" y="3682080"/>
            <a:ext cx="822924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66" name="PlaceHolder 2"/>
          <p:cNvSpPr>
            <a:spLocks noGrp="1"/>
          </p:cNvSpPr>
          <p:nvPr>
            <p:ph type="body"/>
          </p:nvPr>
        </p:nvSpPr>
        <p:spPr>
          <a:xfrm>
            <a:off x="457200" y="1604520"/>
            <a:ext cx="822924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67" name="PlaceHolder 3"/>
          <p:cNvSpPr>
            <a:spLocks noGrp="1"/>
          </p:cNvSpPr>
          <p:nvPr>
            <p:ph type="body"/>
          </p:nvPr>
        </p:nvSpPr>
        <p:spPr>
          <a:xfrm>
            <a:off x="457200" y="3682080"/>
            <a:ext cx="822924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69" name="PlaceHolder 2"/>
          <p:cNvSpPr>
            <a:spLocks noGrp="1"/>
          </p:cNvSpPr>
          <p:nvPr>
            <p:ph type="body"/>
          </p:nvPr>
        </p:nvSpPr>
        <p:spPr>
          <a:xfrm>
            <a:off x="45720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70" name="PlaceHolder 3"/>
          <p:cNvSpPr>
            <a:spLocks noGrp="1"/>
          </p:cNvSpPr>
          <p:nvPr>
            <p:ph type="body"/>
          </p:nvPr>
        </p:nvSpPr>
        <p:spPr>
          <a:xfrm>
            <a:off x="467424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71" name="PlaceHolder 4"/>
          <p:cNvSpPr>
            <a:spLocks noGrp="1"/>
          </p:cNvSpPr>
          <p:nvPr>
            <p:ph type="body"/>
          </p:nvPr>
        </p:nvSpPr>
        <p:spPr>
          <a:xfrm>
            <a:off x="4674240" y="368208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72" name="PlaceHolder 5"/>
          <p:cNvSpPr>
            <a:spLocks noGrp="1"/>
          </p:cNvSpPr>
          <p:nvPr>
            <p:ph type="body"/>
          </p:nvPr>
        </p:nvSpPr>
        <p:spPr>
          <a:xfrm>
            <a:off x="457200" y="368208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74" name="PlaceHolder 2"/>
          <p:cNvSpPr>
            <a:spLocks noGrp="1"/>
          </p:cNvSpPr>
          <p:nvPr>
            <p:ph type="body"/>
          </p:nvPr>
        </p:nvSpPr>
        <p:spPr>
          <a:xfrm>
            <a:off x="457200" y="1604520"/>
            <a:ext cx="822924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75" name="PlaceHolder 3"/>
          <p:cNvSpPr>
            <a:spLocks noGrp="1"/>
          </p:cNvSpPr>
          <p:nvPr>
            <p:ph type="body"/>
          </p:nvPr>
        </p:nvSpPr>
        <p:spPr>
          <a:xfrm>
            <a:off x="457200" y="1604520"/>
            <a:ext cx="822924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pic>
        <p:nvPicPr>
          <p:cNvPr id="76" name="Picture 75"/>
          <p:cNvPicPr/>
          <p:nvPr/>
        </p:nvPicPr>
        <p:blipFill>
          <a:blip r:embed="rId2"/>
          <a:stretch/>
        </p:blipFill>
        <p:spPr>
          <a:xfrm>
            <a:off x="2079000" y="1604520"/>
            <a:ext cx="4985280" cy="3977280"/>
          </a:xfrm>
          <a:prstGeom prst="rect">
            <a:avLst/>
          </a:prstGeom>
          <a:ln>
            <a:noFill/>
          </a:ln>
        </p:spPr>
      </p:pic>
      <p:pic>
        <p:nvPicPr>
          <p:cNvPr id="77" name="Picture 76"/>
          <p:cNvPicPr/>
          <p:nvPr/>
        </p:nvPicPr>
        <p:blipFill>
          <a:blip r:embed="rId2"/>
          <a:stretch/>
        </p:blipFill>
        <p:spPr>
          <a:xfrm>
            <a:off x="2079000" y="1604520"/>
            <a:ext cx="4985280" cy="3977280"/>
          </a:xfrm>
          <a:prstGeom prst="rect">
            <a:avLst/>
          </a:prstGeom>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23"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25" name="PlaceHolder 2"/>
          <p:cNvSpPr>
            <a:spLocks noGrp="1"/>
          </p:cNvSpPr>
          <p:nvPr>
            <p:ph type="body"/>
          </p:nvPr>
        </p:nvSpPr>
        <p:spPr>
          <a:xfrm>
            <a:off x="457200" y="1604520"/>
            <a:ext cx="822924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27" name="PlaceHolder 2"/>
          <p:cNvSpPr>
            <a:spLocks noGrp="1"/>
          </p:cNvSpPr>
          <p:nvPr>
            <p:ph type="body"/>
          </p:nvPr>
        </p:nvSpPr>
        <p:spPr>
          <a:xfrm>
            <a:off x="457200" y="1604520"/>
            <a:ext cx="401580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128" name="PlaceHolder 3"/>
          <p:cNvSpPr>
            <a:spLocks noGrp="1"/>
          </p:cNvSpPr>
          <p:nvPr>
            <p:ph type="body"/>
          </p:nvPr>
        </p:nvSpPr>
        <p:spPr>
          <a:xfrm>
            <a:off x="4674240" y="1604520"/>
            <a:ext cx="401580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9"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0"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32" name="PlaceHolder 2"/>
          <p:cNvSpPr>
            <a:spLocks noGrp="1"/>
          </p:cNvSpPr>
          <p:nvPr>
            <p:ph type="body"/>
          </p:nvPr>
        </p:nvSpPr>
        <p:spPr>
          <a:xfrm>
            <a:off x="45720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133" name="PlaceHolder 3"/>
          <p:cNvSpPr>
            <a:spLocks noGrp="1"/>
          </p:cNvSpPr>
          <p:nvPr>
            <p:ph type="body"/>
          </p:nvPr>
        </p:nvSpPr>
        <p:spPr>
          <a:xfrm>
            <a:off x="457200" y="368208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134" name="PlaceHolder 4"/>
          <p:cNvSpPr>
            <a:spLocks noGrp="1"/>
          </p:cNvSpPr>
          <p:nvPr>
            <p:ph type="body"/>
          </p:nvPr>
        </p:nvSpPr>
        <p:spPr>
          <a:xfrm>
            <a:off x="4674240" y="1604520"/>
            <a:ext cx="401580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5"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36" name="PlaceHolder 2"/>
          <p:cNvSpPr>
            <a:spLocks noGrp="1"/>
          </p:cNvSpPr>
          <p:nvPr>
            <p:ph type="body"/>
          </p:nvPr>
        </p:nvSpPr>
        <p:spPr>
          <a:xfrm>
            <a:off x="457200" y="1604520"/>
            <a:ext cx="401580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137" name="PlaceHolder 3"/>
          <p:cNvSpPr>
            <a:spLocks noGrp="1"/>
          </p:cNvSpPr>
          <p:nvPr>
            <p:ph type="body"/>
          </p:nvPr>
        </p:nvSpPr>
        <p:spPr>
          <a:xfrm>
            <a:off x="467424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138" name="PlaceHolder 4"/>
          <p:cNvSpPr>
            <a:spLocks noGrp="1"/>
          </p:cNvSpPr>
          <p:nvPr>
            <p:ph type="body"/>
          </p:nvPr>
        </p:nvSpPr>
        <p:spPr>
          <a:xfrm>
            <a:off x="4674240" y="368208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40" name="PlaceHolder 2"/>
          <p:cNvSpPr>
            <a:spLocks noGrp="1"/>
          </p:cNvSpPr>
          <p:nvPr>
            <p:ph type="body"/>
          </p:nvPr>
        </p:nvSpPr>
        <p:spPr>
          <a:xfrm>
            <a:off x="45720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141" name="PlaceHolder 3"/>
          <p:cNvSpPr>
            <a:spLocks noGrp="1"/>
          </p:cNvSpPr>
          <p:nvPr>
            <p:ph type="body"/>
          </p:nvPr>
        </p:nvSpPr>
        <p:spPr>
          <a:xfrm>
            <a:off x="467424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142" name="PlaceHolder 4"/>
          <p:cNvSpPr>
            <a:spLocks noGrp="1"/>
          </p:cNvSpPr>
          <p:nvPr>
            <p:ph type="body"/>
          </p:nvPr>
        </p:nvSpPr>
        <p:spPr>
          <a:xfrm>
            <a:off x="457200" y="3682080"/>
            <a:ext cx="822924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44" name="PlaceHolder 2"/>
          <p:cNvSpPr>
            <a:spLocks noGrp="1"/>
          </p:cNvSpPr>
          <p:nvPr>
            <p:ph type="body"/>
          </p:nvPr>
        </p:nvSpPr>
        <p:spPr>
          <a:xfrm>
            <a:off x="457200" y="1604520"/>
            <a:ext cx="822924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145" name="PlaceHolder 3"/>
          <p:cNvSpPr>
            <a:spLocks noGrp="1"/>
          </p:cNvSpPr>
          <p:nvPr>
            <p:ph type="body"/>
          </p:nvPr>
        </p:nvSpPr>
        <p:spPr>
          <a:xfrm>
            <a:off x="457200" y="3682080"/>
            <a:ext cx="822924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47" name="PlaceHolder 2"/>
          <p:cNvSpPr>
            <a:spLocks noGrp="1"/>
          </p:cNvSpPr>
          <p:nvPr>
            <p:ph type="body"/>
          </p:nvPr>
        </p:nvSpPr>
        <p:spPr>
          <a:xfrm>
            <a:off x="45720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148" name="PlaceHolder 3"/>
          <p:cNvSpPr>
            <a:spLocks noGrp="1"/>
          </p:cNvSpPr>
          <p:nvPr>
            <p:ph type="body"/>
          </p:nvPr>
        </p:nvSpPr>
        <p:spPr>
          <a:xfrm>
            <a:off x="4674240" y="160452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149" name="PlaceHolder 4"/>
          <p:cNvSpPr>
            <a:spLocks noGrp="1"/>
          </p:cNvSpPr>
          <p:nvPr>
            <p:ph type="body"/>
          </p:nvPr>
        </p:nvSpPr>
        <p:spPr>
          <a:xfrm>
            <a:off x="4674240" y="368208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150" name="PlaceHolder 5"/>
          <p:cNvSpPr>
            <a:spLocks noGrp="1"/>
          </p:cNvSpPr>
          <p:nvPr>
            <p:ph type="body"/>
          </p:nvPr>
        </p:nvSpPr>
        <p:spPr>
          <a:xfrm>
            <a:off x="457200" y="3682080"/>
            <a:ext cx="4015800" cy="189684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457200" y="273600"/>
            <a:ext cx="8229240" cy="114480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152" name="PlaceHolder 2"/>
          <p:cNvSpPr>
            <a:spLocks noGrp="1"/>
          </p:cNvSpPr>
          <p:nvPr>
            <p:ph type="body"/>
          </p:nvPr>
        </p:nvSpPr>
        <p:spPr>
          <a:xfrm>
            <a:off x="457200" y="1604520"/>
            <a:ext cx="822924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sp>
        <p:nvSpPr>
          <p:cNvPr id="153" name="PlaceHolder 3"/>
          <p:cNvSpPr>
            <a:spLocks noGrp="1"/>
          </p:cNvSpPr>
          <p:nvPr>
            <p:ph type="body"/>
          </p:nvPr>
        </p:nvSpPr>
        <p:spPr>
          <a:xfrm>
            <a:off x="457200" y="1604520"/>
            <a:ext cx="8229240" cy="3977280"/>
          </a:xfrm>
          <a:prstGeom prst="rect">
            <a:avLst/>
          </a:prstGeom>
        </p:spPr>
        <p:txBody>
          <a:bodyPr lIns="0" tIns="0" rIns="0" bIns="0"/>
          <a:lstStyle/>
          <a:p>
            <a:endParaRPr lang="en-US" sz="2100" b="0" strike="noStrike" spc="-1">
              <a:solidFill>
                <a:srgbClr val="000000"/>
              </a:solidFill>
              <a:uFill>
                <a:solidFill>
                  <a:srgbClr val="FFFFFF"/>
                </a:solidFill>
              </a:uFill>
              <a:latin typeface="Calibri"/>
            </a:endParaRPr>
          </a:p>
        </p:txBody>
      </p:sp>
      <p:pic>
        <p:nvPicPr>
          <p:cNvPr id="154" name="Picture 153"/>
          <p:cNvPicPr/>
          <p:nvPr/>
        </p:nvPicPr>
        <p:blipFill>
          <a:blip r:embed="rId2"/>
          <a:stretch/>
        </p:blipFill>
        <p:spPr>
          <a:xfrm>
            <a:off x="2079000" y="1604520"/>
            <a:ext cx="4985280" cy="3977280"/>
          </a:xfrm>
          <a:prstGeom prst="rect">
            <a:avLst/>
          </a:prstGeom>
          <a:ln>
            <a:noFill/>
          </a:ln>
        </p:spPr>
      </p:pic>
      <p:pic>
        <p:nvPicPr>
          <p:cNvPr id="155" name="Picture 154"/>
          <p:cNvPicPr/>
          <p:nvPr/>
        </p:nvPicPr>
        <p:blipFill>
          <a:blip r:embed="rId2"/>
          <a:stretch/>
        </p:blipFill>
        <p:spPr>
          <a:xfrm>
            <a:off x="2079000" y="1604520"/>
            <a:ext cx="4985280" cy="3977280"/>
          </a:xfrm>
          <a:prstGeom prst="rect">
            <a:avLst/>
          </a:prstGeom>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E8310FB6-E4DB-48D1-93FE-FF7E79ADDB68}" type="datetime1">
              <a:rPr lang="en-GB" smtClean="0">
                <a:solidFill>
                  <a:prstClr val="black">
                    <a:tint val="75000"/>
                  </a:prstClr>
                </a:solidFill>
              </a:rPr>
              <a:pPr/>
              <a:t>15/09/2026</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9FAE67A1-64D8-4F46-B37A-38483D96807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8150153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E46AE09-82AF-4152-9B32-F4657322261A}" type="datetime1">
              <a:rPr lang="en-GB" smtClean="0">
                <a:solidFill>
                  <a:prstClr val="black">
                    <a:tint val="75000"/>
                  </a:prstClr>
                </a:solidFill>
              </a:rPr>
              <a:pPr/>
              <a:t>15/09/2026</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9FAE67A1-64D8-4F46-B37A-38483D96807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5812256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03F6FC-C883-4012-8D92-2999352DE5B6}" type="datetime1">
              <a:rPr lang="en-GB" smtClean="0">
                <a:solidFill>
                  <a:prstClr val="black">
                    <a:tint val="75000"/>
                  </a:prstClr>
                </a:solidFill>
              </a:rPr>
              <a:pPr/>
              <a:t>15/09/2026</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9FAE67A1-64D8-4F46-B37A-38483D96807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9391629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CB8A6B4-308B-47D6-958A-7C3BC0F28E29}" type="datetime1">
              <a:rPr lang="en-GB" smtClean="0">
                <a:solidFill>
                  <a:prstClr val="black">
                    <a:tint val="75000"/>
                  </a:prstClr>
                </a:solidFill>
              </a:rPr>
              <a:pPr/>
              <a:t>15/09/2026</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9FAE67A1-64D8-4F46-B37A-38483D96807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58831408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6F0BEB7-88A7-421C-9AA6-B5910BD4CF5A}" type="datetime1">
              <a:rPr lang="en-GB" smtClean="0">
                <a:solidFill>
                  <a:prstClr val="black">
                    <a:tint val="75000"/>
                  </a:prstClr>
                </a:solidFill>
              </a:rPr>
              <a:pPr/>
              <a:t>15/09/2026</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endParaRPr lang="en-GB">
              <a:solidFill>
                <a:prstClr val="black">
                  <a:tint val="75000"/>
                </a:prstClr>
              </a:solidFill>
            </a:endParaRPr>
          </a:p>
        </p:txBody>
      </p:sp>
      <p:sp>
        <p:nvSpPr>
          <p:cNvPr id="9" name="Slide Number Placeholder 8"/>
          <p:cNvSpPr>
            <a:spLocks noGrp="1"/>
          </p:cNvSpPr>
          <p:nvPr>
            <p:ph type="sldNum" sz="quarter" idx="12"/>
          </p:nvPr>
        </p:nvSpPr>
        <p:spPr/>
        <p:txBody>
          <a:bodyPr/>
          <a:lstStyle/>
          <a:p>
            <a:fld id="{9FAE67A1-64D8-4F46-B37A-38483D96807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39381543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970B2F56-F5EA-42A1-8BBE-D160416BAF5B}" type="datetime1">
              <a:rPr lang="en-GB" smtClean="0">
                <a:solidFill>
                  <a:prstClr val="black">
                    <a:tint val="75000"/>
                  </a:prstClr>
                </a:solidFill>
              </a:rPr>
              <a:pPr/>
              <a:t>15/09/2026</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endParaRPr lang="en-GB">
              <a:solidFill>
                <a:prstClr val="black">
                  <a:tint val="75000"/>
                </a:prstClr>
              </a:solidFill>
            </a:endParaRPr>
          </a:p>
        </p:txBody>
      </p:sp>
      <p:sp>
        <p:nvSpPr>
          <p:cNvPr id="5" name="Slide Number Placeholder 4"/>
          <p:cNvSpPr>
            <a:spLocks noGrp="1"/>
          </p:cNvSpPr>
          <p:nvPr>
            <p:ph type="sldNum" sz="quarter" idx="12"/>
          </p:nvPr>
        </p:nvSpPr>
        <p:spPr/>
        <p:txBody>
          <a:bodyPr/>
          <a:lstStyle/>
          <a:p>
            <a:fld id="{9FAE67A1-64D8-4F46-B37A-38483D96807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6692232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B0929-1204-47AD-9E59-A0CE9EBEF46F}" type="datetime1">
              <a:rPr lang="en-GB" smtClean="0">
                <a:solidFill>
                  <a:prstClr val="black">
                    <a:tint val="75000"/>
                  </a:prstClr>
                </a:solidFill>
              </a:rPr>
              <a:pPr/>
              <a:t>15/09/2026</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endParaRPr lang="en-GB">
              <a:solidFill>
                <a:prstClr val="black">
                  <a:tint val="75000"/>
                </a:prstClr>
              </a:solidFill>
            </a:endParaRPr>
          </a:p>
        </p:txBody>
      </p:sp>
      <p:sp>
        <p:nvSpPr>
          <p:cNvPr id="4" name="Slide Number Placeholder 3"/>
          <p:cNvSpPr>
            <a:spLocks noGrp="1"/>
          </p:cNvSpPr>
          <p:nvPr>
            <p:ph type="sldNum" sz="quarter" idx="12"/>
          </p:nvPr>
        </p:nvSpPr>
        <p:spPr/>
        <p:txBody>
          <a:bodyPr/>
          <a:lstStyle/>
          <a:p>
            <a:fld id="{9FAE67A1-64D8-4F46-B37A-38483D96807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2138184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C02E78-AE5F-45A0-B13A-14B5C856672B}" type="datetime1">
              <a:rPr lang="en-GB" smtClean="0">
                <a:solidFill>
                  <a:prstClr val="black">
                    <a:tint val="75000"/>
                  </a:prstClr>
                </a:solidFill>
              </a:rPr>
              <a:pPr/>
              <a:t>15/09/2026</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9FAE67A1-64D8-4F46-B37A-38483D96807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1996807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761D19-5D34-41D7-8D32-42B6A1909154}" type="datetime1">
              <a:rPr lang="en-GB" smtClean="0">
                <a:solidFill>
                  <a:prstClr val="black">
                    <a:tint val="75000"/>
                  </a:prstClr>
                </a:solidFill>
              </a:rPr>
              <a:pPr/>
              <a:t>15/09/2026</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endParaRPr lang="en-GB">
              <a:solidFill>
                <a:prstClr val="black">
                  <a:tint val="75000"/>
                </a:prstClr>
              </a:solidFill>
            </a:endParaRPr>
          </a:p>
        </p:txBody>
      </p:sp>
      <p:sp>
        <p:nvSpPr>
          <p:cNvPr id="7" name="Slide Number Placeholder 6"/>
          <p:cNvSpPr>
            <a:spLocks noGrp="1"/>
          </p:cNvSpPr>
          <p:nvPr>
            <p:ph type="sldNum" sz="quarter" idx="12"/>
          </p:nvPr>
        </p:nvSpPr>
        <p:spPr/>
        <p:txBody>
          <a:bodyPr/>
          <a:lstStyle/>
          <a:p>
            <a:fld id="{9FAE67A1-64D8-4F46-B37A-38483D96807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8036875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B58041F-D0B0-4DCC-94B8-416529C2E633}" type="datetime1">
              <a:rPr lang="en-GB" smtClean="0">
                <a:solidFill>
                  <a:prstClr val="black">
                    <a:tint val="75000"/>
                  </a:prstClr>
                </a:solidFill>
              </a:rPr>
              <a:pPr/>
              <a:t>15/09/2026</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9FAE67A1-64D8-4F46-B37A-38483D96807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7091583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7950292-B715-45C9-875D-9C5631F963DC}" type="datetime1">
              <a:rPr lang="en-GB" smtClean="0">
                <a:solidFill>
                  <a:prstClr val="black">
                    <a:tint val="75000"/>
                  </a:prstClr>
                </a:solidFill>
              </a:rPr>
              <a:pPr/>
              <a:t>15/09/2026</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endParaRPr lang="en-GB">
              <a:solidFill>
                <a:prstClr val="black">
                  <a:tint val="75000"/>
                </a:prstClr>
              </a:solidFill>
            </a:endParaRPr>
          </a:p>
        </p:txBody>
      </p:sp>
      <p:sp>
        <p:nvSpPr>
          <p:cNvPr id="6" name="Slide Number Placeholder 5"/>
          <p:cNvSpPr>
            <a:spLocks noGrp="1"/>
          </p:cNvSpPr>
          <p:nvPr>
            <p:ph type="sldNum" sz="quarter" idx="12"/>
          </p:nvPr>
        </p:nvSpPr>
        <p:spPr/>
        <p:txBody>
          <a:bodyPr/>
          <a:lstStyle/>
          <a:p>
            <a:fld id="{9FAE67A1-64D8-4F46-B37A-38483D96807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535276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28560" y="365040"/>
            <a:ext cx="7886520" cy="1325160"/>
          </a:xfrm>
          <a:prstGeom prst="rect">
            <a:avLst/>
          </a:prstGeom>
        </p:spPr>
        <p:txBody>
          <a:bodyPr anchor="ctr"/>
          <a:lstStyle/>
          <a:p>
            <a:pPr>
              <a:lnSpc>
                <a:spcPct val="90000"/>
              </a:lnSpc>
            </a:pPr>
            <a:r>
              <a:rPr lang="en-US" sz="3300" b="0" strike="noStrike" spc="-1">
                <a:solidFill>
                  <a:srgbClr val="000000"/>
                </a:solidFill>
                <a:uFill>
                  <a:solidFill>
                    <a:srgbClr val="FFFFFF"/>
                  </a:solidFill>
                </a:uFill>
                <a:latin typeface="Calibri Light"/>
              </a:rPr>
              <a:t>Click to edit Master title style</a:t>
            </a:r>
            <a:endParaRPr lang="en-US" sz="1800" b="0" strike="noStrike" spc="-1">
              <a:solidFill>
                <a:srgbClr val="000000"/>
              </a:solidFill>
              <a:uFill>
                <a:solidFill>
                  <a:srgbClr val="FFFFFF"/>
                </a:solidFill>
              </a:uFill>
              <a:latin typeface="Calibri"/>
            </a:endParaRPr>
          </a:p>
        </p:txBody>
      </p:sp>
      <p:sp>
        <p:nvSpPr>
          <p:cNvPr id="6" name="PlaceHolder 2"/>
          <p:cNvSpPr>
            <a:spLocks noGrp="1"/>
          </p:cNvSpPr>
          <p:nvPr>
            <p:ph type="body"/>
          </p:nvPr>
        </p:nvSpPr>
        <p:spPr>
          <a:xfrm>
            <a:off x="628560" y="1825560"/>
            <a:ext cx="7886520" cy="4350960"/>
          </a:xfrm>
          <a:prstGeom prst="rect">
            <a:avLst/>
          </a:prstGeom>
        </p:spPr>
        <p:txBody>
          <a:bodyPr/>
          <a:lstStyle/>
          <a:p>
            <a:pPr marL="432000" indent="-324000">
              <a:buClr>
                <a:srgbClr val="000000"/>
              </a:buClr>
              <a:buSzPct val="45000"/>
              <a:buFont typeface="Wingdings" charset="2"/>
              <a:buChar char=""/>
            </a:pPr>
            <a:r>
              <a:rPr lang="en-US" sz="2100" b="0" strike="noStrike" spc="-1">
                <a:solidFill>
                  <a:srgbClr val="000000"/>
                </a:solidFill>
                <a:uFill>
                  <a:solidFill>
                    <a:srgbClr val="FFFFFF"/>
                  </a:solidFill>
                </a:uFill>
                <a:latin typeface="Calibri"/>
              </a:rPr>
              <a:t>Click to edit the outline text format</a:t>
            </a:r>
          </a:p>
          <a:p>
            <a:pPr marL="864000" lvl="1" indent="-324000">
              <a:buClr>
                <a:srgbClr val="000000"/>
              </a:buClr>
              <a:buSzPct val="75000"/>
              <a:buFont typeface="Symbol" charset="2"/>
              <a:buChar char=""/>
            </a:pPr>
            <a:r>
              <a:rPr lang="en-US" sz="2100" b="0" strike="noStrike" spc="-1">
                <a:solidFill>
                  <a:srgbClr val="000000"/>
                </a:solidFill>
                <a:uFill>
                  <a:solidFill>
                    <a:srgbClr val="FFFFFF"/>
                  </a:solidFill>
                </a:uFill>
                <a:latin typeface="Calibri"/>
              </a:rPr>
              <a:t>Second Outline Level</a:t>
            </a:r>
          </a:p>
          <a:p>
            <a:pPr marL="1296000" lvl="2" indent="-288000">
              <a:buClr>
                <a:srgbClr val="000000"/>
              </a:buClr>
              <a:buSzPct val="45000"/>
              <a:buFont typeface="Wingdings" charset="2"/>
              <a:buChar char=""/>
            </a:pPr>
            <a:r>
              <a:rPr lang="en-US" sz="2100" b="0" strike="noStrike" spc="-1">
                <a:solidFill>
                  <a:srgbClr val="000000"/>
                </a:solidFill>
                <a:uFill>
                  <a:solidFill>
                    <a:srgbClr val="FFFFFF"/>
                  </a:solidFill>
                </a:uFill>
                <a:latin typeface="Calibri"/>
              </a:rPr>
              <a:t>Third Outline Level</a:t>
            </a:r>
          </a:p>
          <a:p>
            <a:pPr marL="1728000" lvl="3" indent="-216000">
              <a:buClr>
                <a:srgbClr val="000000"/>
              </a:buClr>
              <a:buSzPct val="75000"/>
              <a:buFont typeface="Symbol" charset="2"/>
              <a:buChar char=""/>
            </a:pPr>
            <a:r>
              <a:rPr lang="en-US" sz="2100" b="0" strike="noStrike" spc="-1">
                <a:solidFill>
                  <a:srgbClr val="000000"/>
                </a:solidFill>
                <a:uFill>
                  <a:solidFill>
                    <a:srgbClr val="FFFFFF"/>
                  </a:solidFill>
                </a:uFill>
                <a:latin typeface="Calibri"/>
              </a:rPr>
              <a:t>Fourth Outline Level</a:t>
            </a:r>
          </a:p>
          <a:p>
            <a:pPr marL="2160000" lvl="4" indent="-216000">
              <a:buClr>
                <a:srgbClr val="000000"/>
              </a:buClr>
              <a:buSzPct val="45000"/>
              <a:buFont typeface="Wingdings" charset="2"/>
              <a:buChar char=""/>
            </a:pPr>
            <a:r>
              <a:rPr lang="en-US" sz="2100" b="0" strike="noStrike" spc="-1">
                <a:solidFill>
                  <a:srgbClr val="000000"/>
                </a:solidFill>
                <a:uFill>
                  <a:solidFill>
                    <a:srgbClr val="FFFFFF"/>
                  </a:solidFill>
                </a:uFill>
                <a:latin typeface="Calibri"/>
              </a:rPr>
              <a:t>Fifth Outline Level</a:t>
            </a:r>
          </a:p>
          <a:p>
            <a:pPr marL="2592000" lvl="5" indent="-216000">
              <a:buClr>
                <a:srgbClr val="000000"/>
              </a:buClr>
              <a:buSzPct val="45000"/>
              <a:buFont typeface="Wingdings" charset="2"/>
              <a:buChar char=""/>
            </a:pPr>
            <a:r>
              <a:rPr lang="en-US" sz="2100" b="0" strike="noStrike" spc="-1">
                <a:solidFill>
                  <a:srgbClr val="000000"/>
                </a:solidFill>
                <a:uFill>
                  <a:solidFill>
                    <a:srgbClr val="FFFFFF"/>
                  </a:solidFill>
                </a:uFill>
                <a:latin typeface="Calibri"/>
              </a:rPr>
              <a:t>Sixth Outline Level</a:t>
            </a:r>
          </a:p>
          <a:p>
            <a:pPr marL="171360" indent="-171000">
              <a:lnSpc>
                <a:spcPct val="100000"/>
              </a:lnSpc>
              <a:buClr>
                <a:srgbClr val="000000"/>
              </a:buClr>
              <a:buFont typeface="Arial"/>
              <a:buChar char="•"/>
            </a:pPr>
            <a:r>
              <a:rPr lang="en-US" sz="2100" b="0" strike="noStrike" spc="-1">
                <a:solidFill>
                  <a:srgbClr val="000000"/>
                </a:solidFill>
                <a:uFill>
                  <a:solidFill>
                    <a:srgbClr val="FFFFFF"/>
                  </a:solidFill>
                </a:uFill>
                <a:latin typeface="Calibri"/>
              </a:rPr>
              <a:t>Seventh Outline LevelClick to edit Master text styles</a:t>
            </a:r>
          </a:p>
          <a:p>
            <a:pPr marL="514440" lvl="1" indent="-171000">
              <a:lnSpc>
                <a:spcPct val="100000"/>
              </a:lnSpc>
              <a:buClr>
                <a:srgbClr val="000000"/>
              </a:buClr>
              <a:buFont typeface="Arial"/>
              <a:buChar char="•"/>
            </a:pPr>
            <a:r>
              <a:rPr lang="en-US" sz="1800" b="0" strike="noStrike" spc="-1">
                <a:solidFill>
                  <a:srgbClr val="000000"/>
                </a:solidFill>
                <a:uFill>
                  <a:solidFill>
                    <a:srgbClr val="FFFFFF"/>
                  </a:solidFill>
                </a:uFill>
                <a:latin typeface="Calibri"/>
              </a:rPr>
              <a:t>Second level</a:t>
            </a:r>
            <a:endParaRPr lang="en-US" sz="2100" b="0" strike="noStrike" spc="-1">
              <a:solidFill>
                <a:srgbClr val="000000"/>
              </a:solidFill>
              <a:uFill>
                <a:solidFill>
                  <a:srgbClr val="FFFFFF"/>
                </a:solidFill>
              </a:uFill>
              <a:latin typeface="Calibri"/>
            </a:endParaRPr>
          </a:p>
          <a:p>
            <a:pPr marL="857160" lvl="2" indent="-171000">
              <a:lnSpc>
                <a:spcPct val="100000"/>
              </a:lnSpc>
              <a:buClr>
                <a:srgbClr val="000000"/>
              </a:buClr>
              <a:buFont typeface="Arial"/>
              <a:buChar char="•"/>
            </a:pPr>
            <a:r>
              <a:rPr lang="en-US" sz="1500" b="0" strike="noStrike" spc="-1">
                <a:solidFill>
                  <a:srgbClr val="000000"/>
                </a:solidFill>
                <a:uFill>
                  <a:solidFill>
                    <a:srgbClr val="FFFFFF"/>
                  </a:solidFill>
                </a:uFill>
                <a:latin typeface="Calibri"/>
              </a:rPr>
              <a:t>Third level</a:t>
            </a:r>
            <a:endParaRPr lang="en-US" sz="2100" b="0" strike="noStrike" spc="-1">
              <a:solidFill>
                <a:srgbClr val="000000"/>
              </a:solidFill>
              <a:uFill>
                <a:solidFill>
                  <a:srgbClr val="FFFFFF"/>
                </a:solidFill>
              </a:uFill>
              <a:latin typeface="Calibri"/>
            </a:endParaRPr>
          </a:p>
          <a:p>
            <a:pPr marL="1200240" lvl="3" indent="-171000">
              <a:lnSpc>
                <a:spcPct val="100000"/>
              </a:lnSpc>
              <a:buClr>
                <a:srgbClr val="000000"/>
              </a:buClr>
              <a:buFont typeface="Arial"/>
              <a:buChar char="•"/>
            </a:pPr>
            <a:r>
              <a:rPr lang="en-US" sz="1350" b="0" strike="noStrike" spc="-1">
                <a:solidFill>
                  <a:srgbClr val="000000"/>
                </a:solidFill>
                <a:uFill>
                  <a:solidFill>
                    <a:srgbClr val="FFFFFF"/>
                  </a:solidFill>
                </a:uFill>
                <a:latin typeface="Calibri"/>
              </a:rPr>
              <a:t>Fourth level</a:t>
            </a:r>
            <a:endParaRPr lang="en-US" sz="2100" b="0" strike="noStrike" spc="-1">
              <a:solidFill>
                <a:srgbClr val="000000"/>
              </a:solidFill>
              <a:uFill>
                <a:solidFill>
                  <a:srgbClr val="FFFFFF"/>
                </a:solidFill>
              </a:uFill>
              <a:latin typeface="Calibri"/>
            </a:endParaRPr>
          </a:p>
          <a:p>
            <a:pPr marL="1542960" lvl="4" indent="-171000">
              <a:lnSpc>
                <a:spcPct val="100000"/>
              </a:lnSpc>
              <a:buClr>
                <a:srgbClr val="000000"/>
              </a:buClr>
              <a:buFont typeface="Arial"/>
              <a:buChar char="•"/>
            </a:pPr>
            <a:r>
              <a:rPr lang="en-US" sz="1350" b="0" strike="noStrike" spc="-1">
                <a:solidFill>
                  <a:srgbClr val="000000"/>
                </a:solidFill>
                <a:uFill>
                  <a:solidFill>
                    <a:srgbClr val="FFFFFF"/>
                  </a:solidFill>
                </a:uFill>
                <a:latin typeface="Calibri"/>
              </a:rPr>
              <a:t>Fifth level</a:t>
            </a:r>
            <a:endParaRPr lang="en-US" sz="2100" b="0" strike="noStrike" spc="-1">
              <a:solidFill>
                <a:srgbClr val="000000"/>
              </a:solidFill>
              <a:uFill>
                <a:solidFill>
                  <a:srgbClr val="FFFFFF"/>
                </a:solidFill>
              </a:uFill>
              <a:latin typeface="Calibri"/>
            </a:endParaRPr>
          </a:p>
        </p:txBody>
      </p:sp>
      <p:sp>
        <p:nvSpPr>
          <p:cNvPr id="2" name="PlaceHolder 3"/>
          <p:cNvSpPr>
            <a:spLocks noGrp="1"/>
          </p:cNvSpPr>
          <p:nvPr>
            <p:ph type="dt"/>
          </p:nvPr>
        </p:nvSpPr>
        <p:spPr>
          <a:xfrm>
            <a:off x="628560" y="6356520"/>
            <a:ext cx="2057040" cy="364680"/>
          </a:xfrm>
          <a:prstGeom prst="rect">
            <a:avLst/>
          </a:prstGeom>
        </p:spPr>
        <p:txBody>
          <a:bodyPr anchor="ctr"/>
          <a:lstStyle/>
          <a:p>
            <a:pPr>
              <a:lnSpc>
                <a:spcPct val="100000"/>
              </a:lnSpc>
            </a:pPr>
            <a:endParaRPr lang="en-US" sz="1400" b="0" strike="noStrike" spc="-1">
              <a:solidFill>
                <a:srgbClr val="000000"/>
              </a:solidFill>
              <a:uFill>
                <a:solidFill>
                  <a:srgbClr val="FFFFFF"/>
                </a:solidFill>
              </a:uFill>
              <a:latin typeface="Times New Roman"/>
            </a:endParaRPr>
          </a:p>
        </p:txBody>
      </p:sp>
      <p:sp>
        <p:nvSpPr>
          <p:cNvPr id="3" name="PlaceHolder 4"/>
          <p:cNvSpPr>
            <a:spLocks noGrp="1"/>
          </p:cNvSpPr>
          <p:nvPr>
            <p:ph type="ftr"/>
          </p:nvPr>
        </p:nvSpPr>
        <p:spPr>
          <a:xfrm>
            <a:off x="3029040" y="6356520"/>
            <a:ext cx="3085920" cy="364680"/>
          </a:xfrm>
          <a:prstGeom prst="rect">
            <a:avLst/>
          </a:prstGeom>
        </p:spPr>
        <p:txBody>
          <a:bodyPr anchor="ctr"/>
          <a:lstStyle/>
          <a:p>
            <a:endParaRPr lang="en-US" sz="2400" b="0" strike="noStrike" spc="-1">
              <a:solidFill>
                <a:srgbClr val="000000"/>
              </a:solidFill>
              <a:uFill>
                <a:solidFill>
                  <a:srgbClr val="FFFFFF"/>
                </a:solidFill>
              </a:uFill>
              <a:latin typeface="Times New Roman"/>
            </a:endParaRPr>
          </a:p>
        </p:txBody>
      </p:sp>
      <p:sp>
        <p:nvSpPr>
          <p:cNvPr id="4" name="PlaceHolder 5"/>
          <p:cNvSpPr>
            <a:spLocks noGrp="1"/>
          </p:cNvSpPr>
          <p:nvPr>
            <p:ph type="sldNum"/>
          </p:nvPr>
        </p:nvSpPr>
        <p:spPr>
          <a:xfrm>
            <a:off x="6458040" y="6356520"/>
            <a:ext cx="2057040" cy="364680"/>
          </a:xfrm>
          <a:prstGeom prst="rect">
            <a:avLst/>
          </a:prstGeom>
        </p:spPr>
        <p:txBody>
          <a:bodyPr anchor="ctr"/>
          <a:lstStyle/>
          <a:p>
            <a:pPr algn="r">
              <a:lnSpc>
                <a:spcPct val="100000"/>
              </a:lnSpc>
            </a:pPr>
            <a:fld id="{BD2BE9AF-6321-4D2E-94A1-538B9BC0D091}" type="slidenum">
              <a:rPr lang="en-US" sz="900" b="0" strike="noStrike" spc="-1">
                <a:solidFill>
                  <a:srgbClr val="8B8B8B"/>
                </a:solidFill>
                <a:uFill>
                  <a:solidFill>
                    <a:srgbClr val="FFFFFF"/>
                  </a:solidFill>
                </a:uFill>
                <a:latin typeface="Calibri"/>
              </a:rPr>
              <a:t>‹#›</a:t>
            </a:fld>
            <a:endParaRPr lang="en-US" sz="1400" b="0" strike="noStrike" spc="-1">
              <a:solidFill>
                <a:srgbClr val="000000"/>
              </a:solidFill>
              <a:uFill>
                <a:solidFill>
                  <a:srgbClr val="FFFFFF"/>
                </a:solidFill>
              </a:uFill>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dt"/>
          </p:nvPr>
        </p:nvSpPr>
        <p:spPr>
          <a:xfrm>
            <a:off x="628560" y="6356520"/>
            <a:ext cx="2057040" cy="364680"/>
          </a:xfrm>
          <a:prstGeom prst="rect">
            <a:avLst/>
          </a:prstGeom>
        </p:spPr>
        <p:txBody>
          <a:bodyPr anchor="ctr"/>
          <a:lstStyle/>
          <a:p>
            <a:pPr>
              <a:lnSpc>
                <a:spcPct val="100000"/>
              </a:lnSpc>
            </a:pPr>
            <a:endParaRPr lang="en-US" sz="1400" b="0" strike="noStrike" spc="-1">
              <a:solidFill>
                <a:srgbClr val="000000"/>
              </a:solidFill>
              <a:uFill>
                <a:solidFill>
                  <a:srgbClr val="FFFFFF"/>
                </a:solidFill>
              </a:uFill>
              <a:latin typeface="Times New Roman"/>
            </a:endParaRPr>
          </a:p>
        </p:txBody>
      </p:sp>
      <p:sp>
        <p:nvSpPr>
          <p:cNvPr id="40" name="PlaceHolder 2"/>
          <p:cNvSpPr>
            <a:spLocks noGrp="1"/>
          </p:cNvSpPr>
          <p:nvPr>
            <p:ph type="ftr"/>
          </p:nvPr>
        </p:nvSpPr>
        <p:spPr>
          <a:xfrm>
            <a:off x="3029040" y="6356520"/>
            <a:ext cx="3085920" cy="364680"/>
          </a:xfrm>
          <a:prstGeom prst="rect">
            <a:avLst/>
          </a:prstGeom>
        </p:spPr>
        <p:txBody>
          <a:bodyPr anchor="ctr"/>
          <a:lstStyle/>
          <a:p>
            <a:endParaRPr lang="en-US" sz="2400" b="0" strike="noStrike" spc="-1">
              <a:solidFill>
                <a:srgbClr val="000000"/>
              </a:solidFill>
              <a:uFill>
                <a:solidFill>
                  <a:srgbClr val="FFFFFF"/>
                </a:solidFill>
              </a:uFill>
              <a:latin typeface="Times New Roman"/>
            </a:endParaRPr>
          </a:p>
        </p:txBody>
      </p:sp>
      <p:sp>
        <p:nvSpPr>
          <p:cNvPr id="41" name="PlaceHolder 3"/>
          <p:cNvSpPr>
            <a:spLocks noGrp="1"/>
          </p:cNvSpPr>
          <p:nvPr>
            <p:ph type="sldNum"/>
          </p:nvPr>
        </p:nvSpPr>
        <p:spPr>
          <a:xfrm>
            <a:off x="6458040" y="6356520"/>
            <a:ext cx="2057040" cy="364680"/>
          </a:xfrm>
          <a:prstGeom prst="rect">
            <a:avLst/>
          </a:prstGeom>
        </p:spPr>
        <p:txBody>
          <a:bodyPr anchor="ctr"/>
          <a:lstStyle/>
          <a:p>
            <a:pPr algn="r">
              <a:lnSpc>
                <a:spcPct val="100000"/>
              </a:lnSpc>
            </a:pPr>
            <a:fld id="{AF866BBC-7101-4340-80E6-05DAC6BD3E15}" type="slidenum">
              <a:rPr lang="en-US" sz="900" b="0" strike="noStrike" spc="-1">
                <a:solidFill>
                  <a:srgbClr val="8B8B8B"/>
                </a:solidFill>
                <a:uFill>
                  <a:solidFill>
                    <a:srgbClr val="FFFFFF"/>
                  </a:solidFill>
                </a:uFill>
                <a:latin typeface="Calibri"/>
              </a:rPr>
              <a:t>‹#›</a:t>
            </a:fld>
            <a:endParaRPr lang="en-US" sz="1400" b="0" strike="noStrike" spc="-1">
              <a:solidFill>
                <a:srgbClr val="000000"/>
              </a:solidFill>
              <a:uFill>
                <a:solidFill>
                  <a:srgbClr val="FFFFFF"/>
                </a:solidFill>
              </a:uFill>
              <a:latin typeface="Times New Roman"/>
            </a:endParaRPr>
          </a:p>
        </p:txBody>
      </p:sp>
      <p:sp>
        <p:nvSpPr>
          <p:cNvPr id="42" name="PlaceHolder 4"/>
          <p:cNvSpPr>
            <a:spLocks noGrp="1"/>
          </p:cNvSpPr>
          <p:nvPr>
            <p:ph type="title"/>
          </p:nvPr>
        </p:nvSpPr>
        <p:spPr>
          <a:xfrm>
            <a:off x="457200" y="273600"/>
            <a:ext cx="8229240" cy="1144800"/>
          </a:xfrm>
          <a:prstGeom prst="rect">
            <a:avLst/>
          </a:prstGeom>
        </p:spPr>
        <p:txBody>
          <a:bodyPr lIns="0" tIns="0" rIns="0" bIns="0" anchor="ctr"/>
          <a:lstStyle/>
          <a:p>
            <a:r>
              <a:rPr lang="en-US" sz="1800" b="0" strike="noStrike" spc="-1">
                <a:solidFill>
                  <a:srgbClr val="000000"/>
                </a:solidFill>
                <a:uFill>
                  <a:solidFill>
                    <a:srgbClr val="FFFFFF"/>
                  </a:solidFill>
                </a:uFill>
                <a:latin typeface="Calibri"/>
              </a:rPr>
              <a:t>Click to edit the title text format</a:t>
            </a:r>
          </a:p>
        </p:txBody>
      </p:sp>
      <p:sp>
        <p:nvSpPr>
          <p:cNvPr id="43" name="PlaceHolder 5"/>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en-US" sz="2100" b="0" strike="noStrike" spc="-1">
                <a:solidFill>
                  <a:srgbClr val="000000"/>
                </a:solidFill>
                <a:uFill>
                  <a:solidFill>
                    <a:srgbClr val="FFFFFF"/>
                  </a:solidFill>
                </a:uFill>
                <a:latin typeface="Calibri"/>
              </a:rPr>
              <a:t>Click to edit the outline text format</a:t>
            </a:r>
          </a:p>
          <a:p>
            <a:pPr marL="864000" lvl="1" indent="-324000">
              <a:buClr>
                <a:srgbClr val="000000"/>
              </a:buClr>
              <a:buSzPct val="75000"/>
              <a:buFont typeface="Symbol" charset="2"/>
              <a:buChar char=""/>
            </a:pPr>
            <a:r>
              <a:rPr lang="en-US" sz="1500" b="0" strike="noStrike" spc="-1">
                <a:solidFill>
                  <a:srgbClr val="000000"/>
                </a:solidFill>
                <a:uFill>
                  <a:solidFill>
                    <a:srgbClr val="FFFFFF"/>
                  </a:solidFill>
                </a:uFill>
                <a:latin typeface="Calibri"/>
              </a:rPr>
              <a:t>Second Outline Level</a:t>
            </a:r>
          </a:p>
          <a:p>
            <a:pPr marL="1296000" lvl="2" indent="-288000">
              <a:buClr>
                <a:srgbClr val="000000"/>
              </a:buClr>
              <a:buSzPct val="45000"/>
              <a:buFont typeface="Wingdings" charset="2"/>
              <a:buChar char=""/>
            </a:pPr>
            <a:r>
              <a:rPr lang="en-US" sz="1350" b="0" strike="noStrike" spc="-1">
                <a:solidFill>
                  <a:srgbClr val="000000"/>
                </a:solidFill>
                <a:uFill>
                  <a:solidFill>
                    <a:srgbClr val="FFFFFF"/>
                  </a:solidFill>
                </a:uFill>
                <a:latin typeface="Calibri"/>
              </a:rPr>
              <a:t>Third Outline Level</a:t>
            </a:r>
          </a:p>
          <a:p>
            <a:pPr marL="1728000" lvl="3" indent="-216000">
              <a:buClr>
                <a:srgbClr val="000000"/>
              </a:buClr>
              <a:buSzPct val="75000"/>
              <a:buFont typeface="Symbol" charset="2"/>
              <a:buChar char=""/>
            </a:pPr>
            <a:r>
              <a:rPr lang="en-US" sz="1350" b="0" strike="noStrike" spc="-1">
                <a:solidFill>
                  <a:srgbClr val="000000"/>
                </a:solidFill>
                <a:uFill>
                  <a:solidFill>
                    <a:srgbClr val="FFFFFF"/>
                  </a:solidFill>
                </a:uFill>
                <a:latin typeface="Calibri"/>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Calibri"/>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Calibri"/>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7" name="PlaceHolder 1"/>
          <p:cNvSpPr>
            <a:spLocks noGrp="1"/>
          </p:cNvSpPr>
          <p:nvPr>
            <p:ph type="dt"/>
          </p:nvPr>
        </p:nvSpPr>
        <p:spPr>
          <a:xfrm>
            <a:off x="628560" y="6356520"/>
            <a:ext cx="2057040" cy="364680"/>
          </a:xfrm>
          <a:prstGeom prst="rect">
            <a:avLst/>
          </a:prstGeom>
        </p:spPr>
        <p:txBody>
          <a:bodyPr anchor="ctr"/>
          <a:lstStyle/>
          <a:p>
            <a:pPr>
              <a:lnSpc>
                <a:spcPct val="100000"/>
              </a:lnSpc>
            </a:pPr>
            <a:endParaRPr lang="en-US" sz="1400" b="0" strike="noStrike" spc="-1">
              <a:solidFill>
                <a:srgbClr val="000000"/>
              </a:solidFill>
              <a:uFill>
                <a:solidFill>
                  <a:srgbClr val="FFFFFF"/>
                </a:solidFill>
              </a:uFill>
              <a:latin typeface="Times New Roman"/>
            </a:endParaRPr>
          </a:p>
        </p:txBody>
      </p:sp>
      <p:sp>
        <p:nvSpPr>
          <p:cNvPr id="118" name="PlaceHolder 2"/>
          <p:cNvSpPr>
            <a:spLocks noGrp="1"/>
          </p:cNvSpPr>
          <p:nvPr>
            <p:ph type="ftr"/>
          </p:nvPr>
        </p:nvSpPr>
        <p:spPr>
          <a:xfrm>
            <a:off x="3029040" y="6356520"/>
            <a:ext cx="3085920" cy="364680"/>
          </a:xfrm>
          <a:prstGeom prst="rect">
            <a:avLst/>
          </a:prstGeom>
        </p:spPr>
        <p:txBody>
          <a:bodyPr anchor="ctr"/>
          <a:lstStyle/>
          <a:p>
            <a:endParaRPr lang="en-US" sz="2400" b="0" strike="noStrike" spc="-1">
              <a:solidFill>
                <a:srgbClr val="000000"/>
              </a:solidFill>
              <a:uFill>
                <a:solidFill>
                  <a:srgbClr val="FFFFFF"/>
                </a:solidFill>
              </a:uFill>
              <a:latin typeface="Times New Roman"/>
            </a:endParaRPr>
          </a:p>
        </p:txBody>
      </p:sp>
      <p:sp>
        <p:nvSpPr>
          <p:cNvPr id="119" name="PlaceHolder 3"/>
          <p:cNvSpPr>
            <a:spLocks noGrp="1"/>
          </p:cNvSpPr>
          <p:nvPr>
            <p:ph type="sldNum"/>
          </p:nvPr>
        </p:nvSpPr>
        <p:spPr>
          <a:xfrm>
            <a:off x="6458040" y="6356520"/>
            <a:ext cx="2057040" cy="364680"/>
          </a:xfrm>
          <a:prstGeom prst="rect">
            <a:avLst/>
          </a:prstGeom>
        </p:spPr>
        <p:txBody>
          <a:bodyPr anchor="ctr"/>
          <a:lstStyle/>
          <a:p>
            <a:pPr algn="r">
              <a:lnSpc>
                <a:spcPct val="100000"/>
              </a:lnSpc>
            </a:pPr>
            <a:fld id="{690FEDCF-1683-4F26-ADC0-769DF863C1DC}" type="slidenum">
              <a:rPr lang="en-US" sz="900" b="0" strike="noStrike" spc="-1">
                <a:solidFill>
                  <a:srgbClr val="8B8B8B"/>
                </a:solidFill>
                <a:uFill>
                  <a:solidFill>
                    <a:srgbClr val="FFFFFF"/>
                  </a:solidFill>
                </a:uFill>
                <a:latin typeface="Calibri"/>
              </a:rPr>
              <a:t>‹#›</a:t>
            </a:fld>
            <a:endParaRPr lang="en-US" sz="1400" b="0" strike="noStrike" spc="-1">
              <a:solidFill>
                <a:srgbClr val="000000"/>
              </a:solidFill>
              <a:uFill>
                <a:solidFill>
                  <a:srgbClr val="FFFFFF"/>
                </a:solidFill>
              </a:uFill>
              <a:latin typeface="Times New Roman"/>
            </a:endParaRPr>
          </a:p>
        </p:txBody>
      </p:sp>
      <p:sp>
        <p:nvSpPr>
          <p:cNvPr id="120" name="PlaceHolder 4"/>
          <p:cNvSpPr>
            <a:spLocks noGrp="1"/>
          </p:cNvSpPr>
          <p:nvPr>
            <p:ph type="title"/>
          </p:nvPr>
        </p:nvSpPr>
        <p:spPr>
          <a:xfrm>
            <a:off x="457200" y="273600"/>
            <a:ext cx="8229240" cy="1144800"/>
          </a:xfrm>
          <a:prstGeom prst="rect">
            <a:avLst/>
          </a:prstGeom>
        </p:spPr>
        <p:txBody>
          <a:bodyPr lIns="0" tIns="0" rIns="0" bIns="0" anchor="ctr"/>
          <a:lstStyle/>
          <a:p>
            <a:r>
              <a:rPr lang="en-US" sz="1800" b="0" strike="noStrike" spc="-1">
                <a:solidFill>
                  <a:srgbClr val="000000"/>
                </a:solidFill>
                <a:uFill>
                  <a:solidFill>
                    <a:srgbClr val="FFFFFF"/>
                  </a:solidFill>
                </a:uFill>
                <a:latin typeface="Calibri"/>
              </a:rPr>
              <a:t>Click to edit the title text format</a:t>
            </a:r>
          </a:p>
        </p:txBody>
      </p:sp>
      <p:sp>
        <p:nvSpPr>
          <p:cNvPr id="121" name="PlaceHolder 5"/>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en-US" sz="2100" b="0" strike="noStrike" spc="-1">
                <a:solidFill>
                  <a:srgbClr val="000000"/>
                </a:solidFill>
                <a:uFill>
                  <a:solidFill>
                    <a:srgbClr val="FFFFFF"/>
                  </a:solidFill>
                </a:uFill>
                <a:latin typeface="Calibri"/>
              </a:rPr>
              <a:t>Click to edit the outline text format</a:t>
            </a:r>
          </a:p>
          <a:p>
            <a:pPr marL="864000" lvl="1" indent="-324000">
              <a:buClr>
                <a:srgbClr val="000000"/>
              </a:buClr>
              <a:buSzPct val="75000"/>
              <a:buFont typeface="Symbol" charset="2"/>
              <a:buChar char=""/>
            </a:pPr>
            <a:r>
              <a:rPr lang="en-US" sz="1500" b="0" strike="noStrike" spc="-1">
                <a:solidFill>
                  <a:srgbClr val="000000"/>
                </a:solidFill>
                <a:uFill>
                  <a:solidFill>
                    <a:srgbClr val="FFFFFF"/>
                  </a:solidFill>
                </a:uFill>
                <a:latin typeface="Calibri"/>
              </a:rPr>
              <a:t>Second Outline Level</a:t>
            </a:r>
          </a:p>
          <a:p>
            <a:pPr marL="1296000" lvl="2" indent="-288000">
              <a:buClr>
                <a:srgbClr val="000000"/>
              </a:buClr>
              <a:buSzPct val="45000"/>
              <a:buFont typeface="Wingdings" charset="2"/>
              <a:buChar char=""/>
            </a:pPr>
            <a:r>
              <a:rPr lang="en-US" sz="1350" b="0" strike="noStrike" spc="-1">
                <a:solidFill>
                  <a:srgbClr val="000000"/>
                </a:solidFill>
                <a:uFill>
                  <a:solidFill>
                    <a:srgbClr val="FFFFFF"/>
                  </a:solidFill>
                </a:uFill>
                <a:latin typeface="Calibri"/>
              </a:rPr>
              <a:t>Third Outline Level</a:t>
            </a:r>
          </a:p>
          <a:p>
            <a:pPr marL="1728000" lvl="3" indent="-216000">
              <a:buClr>
                <a:srgbClr val="000000"/>
              </a:buClr>
              <a:buSzPct val="75000"/>
              <a:buFont typeface="Symbol" charset="2"/>
              <a:buChar char=""/>
            </a:pPr>
            <a:r>
              <a:rPr lang="en-US" sz="1350" b="0" strike="noStrike" spc="-1">
                <a:solidFill>
                  <a:srgbClr val="000000"/>
                </a:solidFill>
                <a:uFill>
                  <a:solidFill>
                    <a:srgbClr val="FFFFFF"/>
                  </a:solidFill>
                </a:uFill>
                <a:latin typeface="Calibri"/>
              </a:rPr>
              <a:t>Fourth Outline Level</a:t>
            </a:r>
          </a:p>
          <a:p>
            <a:pPr marL="2160000" lvl="4" indent="-216000">
              <a:buClr>
                <a:srgbClr val="000000"/>
              </a:buClr>
              <a:buSzPct val="45000"/>
              <a:buFont typeface="Wingdings" charset="2"/>
              <a:buChar char=""/>
            </a:pPr>
            <a:r>
              <a:rPr lang="en-US" sz="2000" b="0" strike="noStrike" spc="-1">
                <a:solidFill>
                  <a:srgbClr val="000000"/>
                </a:solidFill>
                <a:uFill>
                  <a:solidFill>
                    <a:srgbClr val="FFFFFF"/>
                  </a:solidFill>
                </a:uFill>
                <a:latin typeface="Calibri"/>
              </a:rPr>
              <a:t>Fifth Outline Level</a:t>
            </a:r>
          </a:p>
          <a:p>
            <a:pPr marL="2592000" lvl="5" indent="-216000">
              <a:buClr>
                <a:srgbClr val="000000"/>
              </a:buClr>
              <a:buSzPct val="45000"/>
              <a:buFont typeface="Wingdings" charset="2"/>
              <a:buChar char=""/>
            </a:pPr>
            <a:r>
              <a:rPr lang="en-US" sz="2000" b="0" strike="noStrike" spc="-1">
                <a:solidFill>
                  <a:srgbClr val="000000"/>
                </a:solidFill>
                <a:uFill>
                  <a:solidFill>
                    <a:srgbClr val="FFFFFF"/>
                  </a:solidFill>
                </a:uFill>
                <a:latin typeface="Calibri"/>
              </a:rPr>
              <a:t>Sixth Outline Level</a:t>
            </a:r>
          </a:p>
          <a:p>
            <a:pPr marL="3024000" lvl="6" indent="-216000">
              <a:buClr>
                <a:srgbClr val="000000"/>
              </a:buClr>
              <a:buSzPct val="45000"/>
              <a:buFont typeface="Wingdings" charset="2"/>
              <a:buChar char=""/>
            </a:pPr>
            <a:r>
              <a:rPr lang="en-US" sz="2000" b="0" strike="noStrike" spc="-1">
                <a:solidFill>
                  <a:srgbClr val="000000"/>
                </a:solidFill>
                <a:uFill>
                  <a:solidFill>
                    <a:srgbClr val="FFFFFF"/>
                  </a:solidFill>
                </a:u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7F9D2D-A16D-47A3-AD06-71C0657CC6FB}" type="datetime1">
              <a:rPr lang="en-GB" smtClean="0">
                <a:solidFill>
                  <a:prstClr val="black">
                    <a:tint val="75000"/>
                  </a:prstClr>
                </a:solidFill>
              </a:rPr>
              <a:pPr/>
              <a:t>15/09/2026</a:t>
            </a:fld>
            <a:endParaRPr lang="en-GB">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AE67A1-64D8-4F46-B37A-38483D968079}"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43126720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3.xml"/><Relationship Id="rId5" Type="http://schemas.openxmlformats.org/officeDocument/2006/relationships/image" Target="../media/image11.jp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3.xml"/><Relationship Id="rId5" Type="http://schemas.openxmlformats.org/officeDocument/2006/relationships/image" Target="../media/image16.jpeg"/><Relationship Id="rId4" Type="http://schemas.openxmlformats.org/officeDocument/2006/relationships/image" Target="../media/image1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3.xml"/><Relationship Id="rId5" Type="http://schemas.openxmlformats.org/officeDocument/2006/relationships/image" Target="../media/image20.jpeg"/><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13.xml"/><Relationship Id="rId5" Type="http://schemas.openxmlformats.org/officeDocument/2006/relationships/image" Target="../media/image24.jpeg"/><Relationship Id="rId4" Type="http://schemas.openxmlformats.org/officeDocument/2006/relationships/image" Target="../media/image23.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jpg"/><Relationship Id="rId1" Type="http://schemas.openxmlformats.org/officeDocument/2006/relationships/slideLayout" Target="../slideLayouts/slideLayout13.xml"/><Relationship Id="rId5" Type="http://schemas.openxmlformats.org/officeDocument/2006/relationships/image" Target="../media/image28.jpg"/><Relationship Id="rId4" Type="http://schemas.openxmlformats.org/officeDocument/2006/relationships/image" Target="../media/image2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13.xml"/><Relationship Id="rId5" Type="http://schemas.openxmlformats.org/officeDocument/2006/relationships/image" Target="../media/image32.jpe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9144000" cy="2088232"/>
          </a:xfrm>
        </p:spPr>
        <p:txBody>
          <a:bodyPr>
            <a:normAutofit fontScale="90000"/>
          </a:bodyPr>
          <a:lstStyle/>
          <a:p>
            <a:r>
              <a:rPr lang="en-US" b="1" dirty="0">
                <a:solidFill>
                  <a:srgbClr val="7030A0"/>
                </a:solidFill>
                <a:latin typeface="Times New Roman" panose="02020603050405020304" pitchFamily="18" charset="0"/>
                <a:cs typeface="Times New Roman" panose="02020603050405020304" pitchFamily="18" charset="0"/>
              </a:rPr>
              <a:t>FOOD SCIENCE AND ENGINEERING, VALUE –ADDITION AND  NATIONAL DEVELOPMENT</a:t>
            </a:r>
            <a:r>
              <a:rPr lang="en-US" b="1" dirty="0">
                <a:latin typeface="Times New Roman" panose="02020603050405020304" pitchFamily="18" charset="0"/>
                <a:cs typeface="Times New Roman" panose="02020603050405020304" pitchFamily="18" charset="0"/>
              </a:rPr>
              <a:t> </a:t>
            </a:r>
            <a:endParaRPr lang="en-GB" b="1" dirty="0">
              <a:solidFill>
                <a:srgbClr val="7030A0"/>
              </a:solidFill>
              <a:latin typeface="Times New Roman" pitchFamily="18" charset="0"/>
              <a:cs typeface="Times New Roman" pitchFamily="18" charset="0"/>
            </a:endParaRPr>
          </a:p>
        </p:txBody>
      </p:sp>
      <p:sp>
        <p:nvSpPr>
          <p:cNvPr id="3" name="Subtitle 2"/>
          <p:cNvSpPr>
            <a:spLocks noGrp="1"/>
          </p:cNvSpPr>
          <p:nvPr>
            <p:ph type="subTitle" idx="1"/>
          </p:nvPr>
        </p:nvSpPr>
        <p:spPr>
          <a:xfrm>
            <a:off x="0" y="3545632"/>
            <a:ext cx="9144000" cy="3312368"/>
          </a:xfrm>
        </p:spPr>
        <p:txBody>
          <a:bodyPr>
            <a:normAutofit/>
          </a:bodyPr>
          <a:lstStyle/>
          <a:p>
            <a:r>
              <a:rPr lang="en-US" b="1" i="1" dirty="0">
                <a:solidFill>
                  <a:schemeClr val="accent6">
                    <a:lumMod val="75000"/>
                  </a:schemeClr>
                </a:solidFill>
                <a:latin typeface="Times New Roman" pitchFamily="18" charset="0"/>
                <a:cs typeface="Times New Roman" pitchFamily="18" charset="0"/>
              </a:rPr>
              <a:t>Dr. W. A. Adebayo</a:t>
            </a:r>
          </a:p>
          <a:p>
            <a:r>
              <a:rPr lang="en-US" sz="1800" b="1" i="1" dirty="0">
                <a:solidFill>
                  <a:schemeClr val="accent6">
                    <a:lumMod val="75000"/>
                  </a:schemeClr>
                </a:solidFill>
                <a:latin typeface="Times New Roman" pitchFamily="18" charset="0"/>
                <a:cs typeface="Times New Roman" pitchFamily="18" charset="0"/>
              </a:rPr>
              <a:t>(Food Process Engineering)</a:t>
            </a:r>
          </a:p>
          <a:p>
            <a:r>
              <a:rPr lang="en-US" sz="2400" i="1" dirty="0">
                <a:solidFill>
                  <a:schemeClr val="tx1"/>
                </a:solidFill>
                <a:latin typeface="Times New Roman" pitchFamily="18" charset="0"/>
                <a:cs typeface="Times New Roman" pitchFamily="18" charset="0"/>
              </a:rPr>
              <a:t>adebayow@oauife.edu.ng; +234808060410278</a:t>
            </a:r>
          </a:p>
          <a:p>
            <a:endParaRPr lang="en-US" i="1" dirty="0">
              <a:solidFill>
                <a:schemeClr val="tx1"/>
              </a:solidFill>
              <a:latin typeface="Times New Roman" pitchFamily="18" charset="0"/>
              <a:cs typeface="Times New Roman" pitchFamily="18" charset="0"/>
            </a:endParaRPr>
          </a:p>
          <a:p>
            <a:r>
              <a:rPr lang="en-US" sz="2800" b="1" i="1" dirty="0">
                <a:solidFill>
                  <a:srgbClr val="00B050"/>
                </a:solidFill>
                <a:latin typeface="Times New Roman" pitchFamily="18" charset="0"/>
                <a:cs typeface="Times New Roman" pitchFamily="18" charset="0"/>
              </a:rPr>
              <a:t>Department of Food Science and Technology</a:t>
            </a:r>
          </a:p>
          <a:p>
            <a:r>
              <a:rPr lang="en-US" b="1" i="1" dirty="0" err="1">
                <a:solidFill>
                  <a:srgbClr val="00B050"/>
                </a:solidFill>
                <a:latin typeface="Times New Roman" pitchFamily="18" charset="0"/>
                <a:cs typeface="Times New Roman" pitchFamily="18" charset="0"/>
              </a:rPr>
              <a:t>Obafemi</a:t>
            </a:r>
            <a:r>
              <a:rPr lang="en-US" b="1" i="1" dirty="0">
                <a:solidFill>
                  <a:srgbClr val="00B050"/>
                </a:solidFill>
                <a:latin typeface="Times New Roman" pitchFamily="18" charset="0"/>
                <a:cs typeface="Times New Roman" pitchFamily="18" charset="0"/>
              </a:rPr>
              <a:t> </a:t>
            </a:r>
            <a:r>
              <a:rPr lang="en-US" b="1" i="1" dirty="0" err="1">
                <a:solidFill>
                  <a:srgbClr val="00B050"/>
                </a:solidFill>
                <a:latin typeface="Times New Roman" pitchFamily="18" charset="0"/>
                <a:cs typeface="Times New Roman" pitchFamily="18" charset="0"/>
              </a:rPr>
              <a:t>Awolowo</a:t>
            </a:r>
            <a:r>
              <a:rPr lang="en-US" b="1" i="1" dirty="0">
                <a:solidFill>
                  <a:srgbClr val="00B050"/>
                </a:solidFill>
                <a:latin typeface="Times New Roman" pitchFamily="18" charset="0"/>
                <a:cs typeface="Times New Roman" pitchFamily="18" charset="0"/>
              </a:rPr>
              <a:t> University, Ile-Ife</a:t>
            </a:r>
            <a:endParaRPr lang="en-GB" b="1" i="1" dirty="0">
              <a:solidFill>
                <a:srgbClr val="00B050"/>
              </a:solidFill>
              <a:latin typeface="Times New Roman" pitchFamily="18" charset="0"/>
              <a:cs typeface="Times New Roman" pitchFamily="18" charset="0"/>
            </a:endParaRPr>
          </a:p>
        </p:txBody>
      </p:sp>
      <p:pic>
        <p:nvPicPr>
          <p:cNvPr id="4" name="Picture 3" descr="D:\Desktop access\Desktop files as at 200416\logo.png"/>
          <p:cNvPicPr/>
          <p:nvPr/>
        </p:nvPicPr>
        <p:blipFill>
          <a:blip r:embed="rId2" cstate="print"/>
          <a:srcRect/>
          <a:stretch>
            <a:fillRect/>
          </a:stretch>
        </p:blipFill>
        <p:spPr bwMode="auto">
          <a:xfrm>
            <a:off x="3851920" y="2132856"/>
            <a:ext cx="1512168" cy="1368152"/>
          </a:xfrm>
          <a:prstGeom prst="rect">
            <a:avLst/>
          </a:prstGeom>
          <a:noFill/>
          <a:ln w="9525">
            <a:noFill/>
            <a:miter lim="800000"/>
            <a:headEnd/>
            <a:tailEnd/>
          </a:ln>
        </p:spPr>
      </p:pic>
    </p:spTree>
    <p:extLst>
      <p:ext uri="{BB962C8B-B14F-4D97-AF65-F5344CB8AC3E}">
        <p14:creationId xmlns:p14="http://schemas.microsoft.com/office/powerpoint/2010/main" val="604378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CustomShape 1"/>
          <p:cNvSpPr/>
          <p:nvPr/>
        </p:nvSpPr>
        <p:spPr>
          <a:xfrm>
            <a:off x="1187280" y="2456640"/>
            <a:ext cx="6334560" cy="849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a:lnSpc>
                <a:spcPct val="100000"/>
              </a:lnSpc>
            </a:pPr>
            <a:r>
              <a:rPr lang="en-US" sz="6000" b="1" strike="noStrike" spc="-1" dirty="0">
                <a:solidFill>
                  <a:srgbClr val="FF0000"/>
                </a:solidFill>
                <a:uFill>
                  <a:solidFill>
                    <a:srgbClr val="FFFFFF"/>
                  </a:solidFill>
                </a:uFill>
                <a:latin typeface="Times New Roman" panose="02020603050405020304" pitchFamily="18" charset="0"/>
                <a:cs typeface="Times New Roman" panose="02020603050405020304" pitchFamily="18" charset="0"/>
              </a:rPr>
              <a:t>INTRODUCTION</a:t>
            </a:r>
            <a:endParaRPr lang="en-US" sz="6000" b="0" strike="noStrike" spc="-1" dirty="0">
              <a:solidFill>
                <a:srgbClr val="FF0000"/>
              </a:solidFill>
              <a:uFill>
                <a:solidFill>
                  <a:srgbClr val="FFFFFF"/>
                </a:solidFill>
              </a:u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136427" y="222869"/>
            <a:ext cx="1511939" cy="1365622"/>
          </a:xfrm>
          <a:prstGeom prst="rect">
            <a:avLst/>
          </a:prstGeom>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60" algn="ctr">
              <a:lnSpc>
                <a:spcPct val="100000"/>
              </a:lnSpc>
              <a:buClr>
                <a:srgbClr val="000000"/>
              </a:buClr>
            </a:pPr>
            <a:r>
              <a:rPr lang="en-US" sz="4000" spc="-1" dirty="0">
                <a:solidFill>
                  <a:srgbClr val="FF0000"/>
                </a:solidFill>
                <a:uFill>
                  <a:solidFill>
                    <a:srgbClr val="FFFFFF"/>
                  </a:solidFill>
                </a:uFill>
                <a:latin typeface="Times New Roman" panose="02020603050405020304" pitchFamily="18" charset="0"/>
                <a:cs typeface="Times New Roman" panose="02020603050405020304" pitchFamily="18" charset="0"/>
              </a:rPr>
              <a:t>KEY WORDS</a:t>
            </a:r>
          </a:p>
          <a:p>
            <a:pPr marL="360" algn="ctr">
              <a:lnSpc>
                <a:spcPct val="100000"/>
              </a:lnSpc>
              <a:buClr>
                <a:srgbClr val="000000"/>
              </a:buClr>
            </a:pPr>
            <a:endParaRPr lang="en-US" sz="2800" spc="-1" dirty="0">
              <a:solidFill>
                <a:srgbClr val="FF0000"/>
              </a:solidFill>
              <a:uFill>
                <a:solidFill>
                  <a:srgbClr val="FFFFFF"/>
                </a:solidFill>
              </a:uFill>
              <a:latin typeface="Segoe UI Semibold"/>
            </a:endParaRPr>
          </a:p>
          <a:p>
            <a:pPr marL="457560" indent="-457200" algn="just">
              <a:lnSpc>
                <a:spcPct val="100000"/>
              </a:lnSpc>
              <a:buClr>
                <a:srgbClr val="000000"/>
              </a:buClr>
              <a:buFont typeface="Wingdings" panose="05000000000000000000" pitchFamily="2" charset="2"/>
              <a:buChar char="Ø"/>
            </a:pPr>
            <a:r>
              <a:rPr lang="en-US" sz="3200" dirty="0">
                <a:solidFill>
                  <a:srgbClr val="FF0000"/>
                </a:solidFill>
                <a:latin typeface="Times New Roman" panose="02020603050405020304" pitchFamily="18" charset="0"/>
                <a:cs typeface="Times New Roman" panose="02020603050405020304" pitchFamily="18" charset="0"/>
              </a:rPr>
              <a:t>Food Science:</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Food Science can be defined as the study of the physical, microbiological, and chemical makeup of food. </a:t>
            </a:r>
          </a:p>
          <a:p>
            <a:pPr marL="457560" indent="-457200" algn="just">
              <a:lnSpc>
                <a:spcPct val="100000"/>
              </a:lnSpc>
              <a:buClr>
                <a:srgbClr val="000000"/>
              </a:buClr>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560" indent="-457200" algn="just">
              <a:lnSpc>
                <a:spcPct val="100000"/>
              </a:lnSpc>
              <a:buClr>
                <a:srgbClr val="000000"/>
              </a:buClr>
              <a:buFont typeface="Wingdings" panose="05000000000000000000" pitchFamily="2" charset="2"/>
              <a:buChar char="Ø"/>
            </a:pPr>
            <a:r>
              <a:rPr lang="en-US" sz="3200" dirty="0">
                <a:solidFill>
                  <a:srgbClr val="FF0000"/>
                </a:solidFill>
                <a:latin typeface="Times New Roman" panose="02020603050405020304" pitchFamily="18" charset="0"/>
                <a:cs typeface="Times New Roman" panose="02020603050405020304" pitchFamily="18" charset="0"/>
              </a:rPr>
              <a:t>Food Technology</a:t>
            </a:r>
            <a:r>
              <a:rPr lang="en-US" sz="2800" dirty="0">
                <a:latin typeface="Times New Roman" panose="02020603050405020304" pitchFamily="18" charset="0"/>
                <a:cs typeface="Times New Roman" panose="02020603050405020304" pitchFamily="18" charset="0"/>
              </a:rPr>
              <a:t>: This is the application of food science to the selection, preservation, processing, packaging, distribution, and use of safe food.</a:t>
            </a:r>
          </a:p>
          <a:p>
            <a:pPr marL="457560" indent="-457200" algn="just">
              <a:lnSpc>
                <a:spcPct val="100000"/>
              </a:lnSpc>
              <a:buClr>
                <a:srgbClr val="000000"/>
              </a:buClr>
              <a:buFont typeface="Wingdings" panose="05000000000000000000" pitchFamily="2" charset="2"/>
              <a:buChar char="Ø"/>
            </a:pPr>
            <a:endParaRPr lang="en-US" sz="2800"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457560" indent="-457200" algn="just">
              <a:lnSpc>
                <a:spcPct val="100000"/>
              </a:lnSpc>
              <a:buClr>
                <a:srgbClr val="000000"/>
              </a:buClr>
              <a:buFont typeface="Wingdings" panose="05000000000000000000" pitchFamily="2" charset="2"/>
              <a:buChar char="Ø"/>
            </a:pPr>
            <a:r>
              <a:rPr lang="en-US" sz="3200" spc="-1" dirty="0">
                <a:solidFill>
                  <a:srgbClr val="FF0000"/>
                </a:solidFill>
                <a:uFill>
                  <a:solidFill>
                    <a:srgbClr val="FFFFFF"/>
                  </a:solidFill>
                </a:uFill>
                <a:latin typeface="Times New Roman" panose="02020603050405020304" pitchFamily="18" charset="0"/>
                <a:cs typeface="Times New Roman" panose="02020603050405020304" pitchFamily="18" charset="0"/>
              </a:rPr>
              <a:t>Food Engineering:</a:t>
            </a:r>
            <a:r>
              <a:rPr lang="en-US" sz="2800" spc="-1" dirty="0">
                <a:solidFill>
                  <a:srgbClr val="000000"/>
                </a:solidFill>
                <a:uFill>
                  <a:solidFill>
                    <a:srgbClr val="FFFFFF"/>
                  </a:solidFill>
                </a:uFill>
                <a:latin typeface="Times New Roman" panose="02020603050405020304" pitchFamily="18" charset="0"/>
                <a:cs typeface="Times New Roman" panose="02020603050405020304" pitchFamily="18" charset="0"/>
              </a:rPr>
              <a:t> This is the multidisciplinary field that applies engineering principles, such as chemical, mechanical and process engineering to the production, processing, preservation and distribution of foods.</a:t>
            </a:r>
          </a:p>
          <a:p>
            <a:pPr marL="457200" indent="-456840" algn="just">
              <a:lnSpc>
                <a:spcPct val="100000"/>
              </a:lnSpc>
              <a:buClr>
                <a:srgbClr val="000000"/>
              </a:buClr>
              <a:buFont typeface="Wingdings" panose="05000000000000000000" pitchFamily="2" charset="2"/>
              <a:buChar char="Ø"/>
            </a:pPr>
            <a:endParaRPr lang="en-US" sz="2400" spc="-1" dirty="0">
              <a:solidFill>
                <a:srgbClr val="000000"/>
              </a:solidFill>
              <a:uFill>
                <a:solidFill>
                  <a:srgbClr val="FFFFFF"/>
                </a:solidFill>
              </a:uFill>
              <a:latin typeface="Segoe UI Semibold"/>
            </a:endParaRPr>
          </a:p>
          <a:p>
            <a:pPr marL="457200" indent="-456840" algn="just">
              <a:lnSpc>
                <a:spcPct val="100000"/>
              </a:lnSpc>
              <a:buClr>
                <a:srgbClr val="000000"/>
              </a:buClr>
              <a:buFont typeface="Wingdings" panose="05000000000000000000" pitchFamily="2" charset="2"/>
              <a:buChar char="Ø"/>
            </a:pPr>
            <a:endParaRPr lang="en-US" sz="2400" spc="-1" dirty="0">
              <a:solidFill>
                <a:srgbClr val="000000"/>
              </a:solidFill>
              <a:uFill>
                <a:solidFill>
                  <a:srgbClr val="FFFFFF"/>
                </a:solidFill>
              </a:uFill>
              <a:latin typeface="Segoe UI Semibold"/>
            </a:endParaRPr>
          </a:p>
        </p:txBody>
      </p:sp>
    </p:spTree>
    <p:extLst>
      <p:ext uri="{BB962C8B-B14F-4D97-AF65-F5344CB8AC3E}">
        <p14:creationId xmlns:p14="http://schemas.microsoft.com/office/powerpoint/2010/main" val="325260154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52115"/>
            <a:ext cx="9144000" cy="6669360"/>
          </a:xfrm>
        </p:spPr>
        <p:txBody>
          <a:bodyPr>
            <a:normAutofit/>
          </a:bodyPr>
          <a:lstStyle/>
          <a:p>
            <a:pPr marL="571500" indent="-571500" algn="l">
              <a:buFont typeface="Wingdings" panose="05000000000000000000" pitchFamily="2" charset="2"/>
              <a:buChar char="Ø"/>
            </a:pPr>
            <a:r>
              <a:rPr lang="en-US" dirty="0">
                <a:solidFill>
                  <a:srgbClr val="FF0000"/>
                </a:solidFill>
                <a:latin typeface="Times New Roman" pitchFamily="18" charset="0"/>
                <a:cs typeface="Times New Roman" pitchFamily="18" charset="0"/>
              </a:rPr>
              <a:t>Branches of Food Science:</a:t>
            </a:r>
            <a:endParaRPr lang="en-US" dirty="0">
              <a:solidFill>
                <a:srgbClr val="00B050"/>
              </a:solidFill>
              <a:latin typeface="Times New Roman" pitchFamily="18" charset="0"/>
              <a:cs typeface="Times New Roman" pitchFamily="18" charset="0"/>
            </a:endParaRPr>
          </a:p>
          <a:p>
            <a:pPr marL="342900" indent="-342900" algn="l">
              <a:buFont typeface="Wingdings" panose="05000000000000000000" pitchFamily="2" charset="2"/>
              <a:buChar char="v"/>
            </a:pPr>
            <a:r>
              <a:rPr lang="en-US" sz="2400" dirty="0">
                <a:solidFill>
                  <a:schemeClr val="accent1"/>
                </a:solidFill>
                <a:latin typeface="Times New Roman" panose="02020603050405020304" pitchFamily="18" charset="0"/>
                <a:cs typeface="Times New Roman" panose="02020603050405020304" pitchFamily="18" charset="0"/>
              </a:rPr>
              <a:t>Food Chemistry</a:t>
            </a:r>
          </a:p>
          <a:p>
            <a:pPr marL="342900" indent="-342900" algn="l">
              <a:buFont typeface="Wingdings" panose="05000000000000000000" pitchFamily="2" charset="2"/>
              <a:buChar char="v"/>
            </a:pPr>
            <a:r>
              <a:rPr lang="en-US" sz="2400" dirty="0">
                <a:solidFill>
                  <a:schemeClr val="accent1"/>
                </a:solidFill>
                <a:latin typeface="Times New Roman" panose="02020603050405020304" pitchFamily="18" charset="0"/>
                <a:cs typeface="Times New Roman" panose="02020603050405020304" pitchFamily="18" charset="0"/>
              </a:rPr>
              <a:t>Processing</a:t>
            </a:r>
          </a:p>
          <a:p>
            <a:pPr marL="342900" indent="-342900" algn="l">
              <a:buFont typeface="Wingdings" panose="05000000000000000000" pitchFamily="2" charset="2"/>
              <a:buChar char="v"/>
            </a:pPr>
            <a:r>
              <a:rPr lang="en-US" sz="2400" dirty="0">
                <a:solidFill>
                  <a:schemeClr val="accent1"/>
                </a:solidFill>
                <a:latin typeface="Times New Roman" panose="02020603050405020304" pitchFamily="18" charset="0"/>
                <a:cs typeface="Times New Roman" panose="02020603050405020304" pitchFamily="18" charset="0"/>
              </a:rPr>
              <a:t>Food Nutrition</a:t>
            </a:r>
          </a:p>
          <a:p>
            <a:pPr marL="342900" indent="-342900" algn="l">
              <a:buFont typeface="Wingdings" panose="05000000000000000000" pitchFamily="2" charset="2"/>
              <a:buChar char="v"/>
            </a:pPr>
            <a:r>
              <a:rPr lang="en-US" sz="2400" dirty="0">
                <a:solidFill>
                  <a:schemeClr val="accent1"/>
                </a:solidFill>
                <a:latin typeface="Times New Roman" panose="02020603050405020304" pitchFamily="18" charset="0"/>
                <a:cs typeface="Times New Roman" panose="02020603050405020304" pitchFamily="18" charset="0"/>
              </a:rPr>
              <a:t>Food Microbiology</a:t>
            </a:r>
          </a:p>
          <a:p>
            <a:pPr marL="342900" indent="-342900" algn="l">
              <a:buFont typeface="Wingdings" panose="05000000000000000000" pitchFamily="2" charset="2"/>
              <a:buChar char="v"/>
            </a:pPr>
            <a:r>
              <a:rPr lang="en-US" sz="2400" dirty="0">
                <a:solidFill>
                  <a:schemeClr val="accent1"/>
                </a:solidFill>
                <a:latin typeface="Times New Roman" panose="02020603050405020304" pitchFamily="18" charset="0"/>
                <a:cs typeface="Times New Roman" panose="02020603050405020304" pitchFamily="18" charset="0"/>
              </a:rPr>
              <a:t>Food Sensory</a:t>
            </a:r>
          </a:p>
          <a:p>
            <a:pPr marL="342900" indent="-342900" algn="l">
              <a:buFont typeface="Wingdings" panose="05000000000000000000" pitchFamily="2" charset="2"/>
              <a:buChar char="v"/>
            </a:pPr>
            <a:r>
              <a:rPr lang="en-US" sz="2400" dirty="0">
                <a:solidFill>
                  <a:schemeClr val="accent1"/>
                </a:solidFill>
                <a:latin typeface="Times New Roman" panose="02020603050405020304" pitchFamily="18" charset="0"/>
                <a:cs typeface="Times New Roman" panose="02020603050405020304" pitchFamily="18" charset="0"/>
              </a:rPr>
              <a:t>New Product Development</a:t>
            </a:r>
          </a:p>
          <a:p>
            <a:pPr marL="571500" indent="-571500" algn="l">
              <a:buFont typeface="Wingdings" panose="05000000000000000000" pitchFamily="2" charset="2"/>
              <a:buChar char="Ø"/>
            </a:pPr>
            <a:r>
              <a:rPr lang="en-US" dirty="0">
                <a:solidFill>
                  <a:srgbClr val="00B050"/>
                </a:solidFill>
                <a:latin typeface="Times New Roman" pitchFamily="18" charset="0"/>
                <a:cs typeface="Times New Roman" pitchFamily="18" charset="0"/>
              </a:rPr>
              <a:t>Branches of Food Engineering:</a:t>
            </a:r>
          </a:p>
          <a:p>
            <a:pPr marL="342900" indent="-342900" algn="l">
              <a:buFont typeface="Wingdings" panose="05000000000000000000" pitchFamily="2" charset="2"/>
              <a:buChar char="v"/>
            </a:pPr>
            <a:r>
              <a:rPr lang="en-US" sz="2400" dirty="0">
                <a:solidFill>
                  <a:schemeClr val="tx1"/>
                </a:solidFill>
                <a:latin typeface="Times New Roman" panose="02020603050405020304" pitchFamily="18" charset="0"/>
                <a:cs typeface="Times New Roman" panose="02020603050405020304" pitchFamily="18" charset="0"/>
              </a:rPr>
              <a:t>Food Safety Engineering</a:t>
            </a:r>
          </a:p>
          <a:p>
            <a:pPr marL="342900" indent="-342900" algn="l">
              <a:buFont typeface="Wingdings" panose="05000000000000000000" pitchFamily="2" charset="2"/>
              <a:buChar char="v"/>
            </a:pPr>
            <a:r>
              <a:rPr lang="en-US" sz="2400" dirty="0">
                <a:solidFill>
                  <a:schemeClr val="tx1"/>
                </a:solidFill>
                <a:latin typeface="Times New Roman" panose="02020603050405020304" pitchFamily="18" charset="0"/>
                <a:cs typeface="Times New Roman" panose="02020603050405020304" pitchFamily="18" charset="0"/>
              </a:rPr>
              <a:t>Sustainability and waste management</a:t>
            </a:r>
            <a:endParaRPr lang="en-US" sz="2400" b="1" dirty="0">
              <a:solidFill>
                <a:schemeClr val="tx1"/>
              </a:solidFill>
              <a:latin typeface="Times New Roman" pitchFamily="18" charset="0"/>
              <a:cs typeface="Times New Roman" pitchFamily="18" charset="0"/>
            </a:endParaRPr>
          </a:p>
          <a:p>
            <a:pPr marL="342900" indent="-342900" algn="l">
              <a:buFont typeface="Wingdings" panose="05000000000000000000" pitchFamily="2" charset="2"/>
              <a:buChar char="v"/>
            </a:pPr>
            <a:r>
              <a:rPr lang="en-US" sz="2400" dirty="0">
                <a:solidFill>
                  <a:schemeClr val="tx1"/>
                </a:solidFill>
                <a:latin typeface="Times New Roman" panose="02020603050405020304" pitchFamily="18" charset="0"/>
                <a:cs typeface="Times New Roman" panose="02020603050405020304" pitchFamily="18" charset="0"/>
              </a:rPr>
              <a:t>Process Engineering;</a:t>
            </a:r>
          </a:p>
          <a:p>
            <a:pPr marL="342900" indent="-342900" algn="l">
              <a:buFont typeface="Wingdings" panose="05000000000000000000" pitchFamily="2" charset="2"/>
              <a:buChar char="v"/>
            </a:pPr>
            <a:r>
              <a:rPr lang="en-US" sz="2400" dirty="0">
                <a:solidFill>
                  <a:schemeClr val="tx1"/>
                </a:solidFill>
                <a:latin typeface="Times New Roman" panose="02020603050405020304" pitchFamily="18" charset="0"/>
                <a:cs typeface="Times New Roman" panose="02020603050405020304" pitchFamily="18" charset="0"/>
              </a:rPr>
              <a:t>Packaging Engineering</a:t>
            </a:r>
          </a:p>
          <a:p>
            <a:pPr marL="342900" indent="-342900" algn="l">
              <a:buFont typeface="Wingdings" panose="05000000000000000000" pitchFamily="2" charset="2"/>
              <a:buChar char="v"/>
            </a:pPr>
            <a:r>
              <a:rPr lang="en-US" sz="2400" dirty="0">
                <a:solidFill>
                  <a:schemeClr val="tx1"/>
                </a:solidFill>
                <a:latin typeface="Times New Roman" panose="02020603050405020304" pitchFamily="18" charset="0"/>
                <a:cs typeface="Times New Roman" panose="02020603050405020304" pitchFamily="18" charset="0"/>
              </a:rPr>
              <a:t>Equipment Design</a:t>
            </a:r>
          </a:p>
          <a:p>
            <a:pPr marL="342900" indent="-342900" algn="l">
              <a:buFont typeface="Wingdings" panose="05000000000000000000" pitchFamily="2" charset="2"/>
              <a:buChar char="v"/>
            </a:pPr>
            <a:r>
              <a:rPr lang="en-US" sz="2400" dirty="0">
                <a:solidFill>
                  <a:schemeClr val="tx1"/>
                </a:solidFill>
                <a:latin typeface="Times New Roman" panose="02020603050405020304" pitchFamily="18" charset="0"/>
                <a:cs typeface="Times New Roman" panose="02020603050405020304" pitchFamily="18" charset="0"/>
              </a:rPr>
              <a:t>Refrigeration and Cold Chain</a:t>
            </a:r>
          </a:p>
          <a:p>
            <a:pPr algn="l"/>
            <a:endParaRPr lang="en-US" sz="2400" dirty="0">
              <a:solidFill>
                <a:schemeClr val="accent1"/>
              </a:solidFill>
              <a:latin typeface="Times New Roman" panose="02020603050405020304" pitchFamily="18" charset="0"/>
              <a:cs typeface="Times New Roman" panose="02020603050405020304" pitchFamily="18" charset="0"/>
            </a:endParaRPr>
          </a:p>
          <a:p>
            <a:pPr marL="571500" indent="-571500" algn="l">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571500" indent="-571500" algn="l">
              <a:buFont typeface="Wingdings" panose="05000000000000000000" pitchFamily="2" charset="2"/>
              <a:buChar char="Ø"/>
            </a:pPr>
            <a:endParaRPr lang="en-US" sz="4000" dirty="0">
              <a:solidFill>
                <a:schemeClr val="tx1"/>
              </a:solidFill>
              <a:latin typeface="Times New Roman" panose="02020603050405020304" pitchFamily="18" charset="0"/>
              <a:cs typeface="Times New Roman" panose="02020603050405020304" pitchFamily="18" charset="0"/>
            </a:endParaRPr>
          </a:p>
          <a:p>
            <a:pPr marL="571500" indent="-571500" algn="l">
              <a:buFont typeface="Wingdings" panose="05000000000000000000" pitchFamily="2" charset="2"/>
              <a:buChar char="Ø"/>
            </a:pPr>
            <a:endParaRPr lang="en-US" sz="4000" dirty="0">
              <a:solidFill>
                <a:schemeClr val="tx1"/>
              </a:solidFill>
              <a:latin typeface="Times New Roman" panose="02020603050405020304" pitchFamily="18" charset="0"/>
              <a:cs typeface="Times New Roman" panose="02020603050405020304" pitchFamily="18" charset="0"/>
            </a:endParaRPr>
          </a:p>
          <a:p>
            <a:pPr marL="571500" indent="-571500" algn="l">
              <a:buFont typeface="Wingdings" panose="05000000000000000000" pitchFamily="2" charset="2"/>
              <a:buChar char="Ø"/>
            </a:pPr>
            <a:endParaRPr lang="en-US" sz="4000" b="1" dirty="0">
              <a:solidFill>
                <a:srgbClr val="00B050"/>
              </a:solidFill>
              <a:latin typeface="Times New Roman" pitchFamily="18" charset="0"/>
              <a:cs typeface="Times New Roman" pitchFamily="18" charset="0"/>
            </a:endParaRPr>
          </a:p>
          <a:p>
            <a:pPr marL="571500" indent="-571500" algn="l">
              <a:buFont typeface="Wingdings" panose="05000000000000000000" pitchFamily="2" charset="2"/>
              <a:buChar char="v"/>
            </a:pPr>
            <a:endParaRPr lang="en-US" sz="4000" b="1" dirty="0">
              <a:solidFill>
                <a:srgbClr val="00B050"/>
              </a:solidFill>
              <a:latin typeface="Times New Roman" pitchFamily="18" charset="0"/>
              <a:cs typeface="Times New Roman" pitchFamily="18" charset="0"/>
            </a:endParaRPr>
          </a:p>
          <a:p>
            <a:pPr marL="571500" indent="-571500" algn="l">
              <a:buFont typeface="Wingdings" panose="05000000000000000000" pitchFamily="2" charset="2"/>
              <a:buChar char="Ø"/>
            </a:pPr>
            <a:endParaRPr lang="en-US" sz="4000" b="1" dirty="0">
              <a:solidFill>
                <a:srgbClr val="00B050"/>
              </a:solidFill>
              <a:latin typeface="Times New Roman" pitchFamily="18" charset="0"/>
              <a:cs typeface="Times New Roman" pitchFamily="18" charset="0"/>
            </a:endParaRPr>
          </a:p>
          <a:p>
            <a:pPr algn="l"/>
            <a:endParaRPr lang="en-US" sz="4000" b="1" dirty="0">
              <a:solidFill>
                <a:srgbClr val="00B050"/>
              </a:solidFill>
              <a:latin typeface="Times New Roman" pitchFamily="18" charset="0"/>
              <a:cs typeface="Times New Roman" pitchFamily="18" charset="0"/>
            </a:endParaRPr>
          </a:p>
          <a:p>
            <a:pPr algn="l">
              <a:buFont typeface="Arial" pitchFamily="34" charset="0"/>
              <a:buChar char="•"/>
            </a:pPr>
            <a:endParaRPr lang="en-US" dirty="0"/>
          </a:p>
        </p:txBody>
      </p:sp>
      <p:sp>
        <p:nvSpPr>
          <p:cNvPr id="4" name="Slide Number Placeholder 3"/>
          <p:cNvSpPr>
            <a:spLocks noGrp="1"/>
          </p:cNvSpPr>
          <p:nvPr>
            <p:ph type="sldNum" sz="quarter" idx="12"/>
          </p:nvPr>
        </p:nvSpPr>
        <p:spPr/>
        <p:txBody>
          <a:bodyPr/>
          <a:lstStyle/>
          <a:p>
            <a:fld id="{9FAE67A1-64D8-4F46-B37A-38483D968079}" type="slidenum">
              <a:rPr lang="en-GB" smtClean="0">
                <a:solidFill>
                  <a:prstClr val="black">
                    <a:tint val="75000"/>
                  </a:prstClr>
                </a:solidFill>
              </a:rPr>
              <a:pPr/>
              <a:t>4</a:t>
            </a:fld>
            <a:endParaRPr lang="en-GB">
              <a:solidFill>
                <a:prstClr val="black">
                  <a:tint val="75000"/>
                </a:prstClr>
              </a:solidFill>
            </a:endParaRPr>
          </a:p>
        </p:txBody>
      </p:sp>
    </p:spTree>
    <p:extLst>
      <p:ext uri="{BB962C8B-B14F-4D97-AF65-F5344CB8AC3E}">
        <p14:creationId xmlns:p14="http://schemas.microsoft.com/office/powerpoint/2010/main" val="398878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2830" y="6370395"/>
            <a:ext cx="8911988"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Plate 1: Pictorial view of food experts on duty</a:t>
            </a:r>
          </a:p>
        </p:txBody>
      </p:sp>
      <p:graphicFrame>
        <p:nvGraphicFramePr>
          <p:cNvPr id="3" name="Table 2"/>
          <p:cNvGraphicFramePr>
            <a:graphicFrameLocks noGrp="1"/>
          </p:cNvGraphicFramePr>
          <p:nvPr>
            <p:extLst>
              <p:ext uri="{D42A27DB-BD31-4B8C-83A1-F6EECF244321}">
                <p14:modId xmlns:p14="http://schemas.microsoft.com/office/powerpoint/2010/main" val="3530296110"/>
              </p:ext>
            </p:extLst>
          </p:nvPr>
        </p:nvGraphicFramePr>
        <p:xfrm>
          <a:off x="0" y="122828"/>
          <a:ext cx="9034818" cy="5404514"/>
        </p:xfrm>
        <a:graphic>
          <a:graphicData uri="http://schemas.openxmlformats.org/drawingml/2006/table">
            <a:tbl>
              <a:tblPr firstRow="1" bandRow="1">
                <a:tableStyleId>{5C22544A-7EE6-4342-B048-85BDC9FD1C3A}</a:tableStyleId>
              </a:tblPr>
              <a:tblGrid>
                <a:gridCol w="4517409">
                  <a:extLst>
                    <a:ext uri="{9D8B030D-6E8A-4147-A177-3AD203B41FA5}">
                      <a16:colId xmlns:a16="http://schemas.microsoft.com/office/drawing/2014/main" val="20000"/>
                    </a:ext>
                  </a:extLst>
                </a:gridCol>
                <a:gridCol w="4517409">
                  <a:extLst>
                    <a:ext uri="{9D8B030D-6E8A-4147-A177-3AD203B41FA5}">
                      <a16:colId xmlns:a16="http://schemas.microsoft.com/office/drawing/2014/main" val="20001"/>
                    </a:ext>
                  </a:extLst>
                </a:gridCol>
              </a:tblGrid>
              <a:tr h="270225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2702257">
                <a:tc>
                  <a:txBody>
                    <a:bodyPr/>
                    <a:lstStyle/>
                    <a:p>
                      <a:endParaRPr lang="en-US"/>
                    </a:p>
                  </a:txBody>
                  <a:tcPr/>
                </a:tc>
                <a:tc>
                  <a:txBody>
                    <a:bodyPr/>
                    <a:lstStyle/>
                    <a:p>
                      <a:endParaRPr lang="en-US" dirty="0"/>
                    </a:p>
                  </a:txBody>
                  <a:tcPr/>
                </a:tc>
                <a:extLst>
                  <a:ext uri="{0D108BD9-81ED-4DB2-BD59-A6C34878D82A}">
                    <a16:rowId xmlns:a16="http://schemas.microsoft.com/office/drawing/2014/main" val="10001"/>
                  </a:ext>
                </a:extLst>
              </a:tr>
            </a:tbl>
          </a:graphicData>
        </a:graphic>
      </p:graphicFrame>
      <p:pic>
        <p:nvPicPr>
          <p:cNvPr id="5" name="Picture 4"/>
          <p:cNvPicPr>
            <a:picLocks noChangeAspect="1"/>
          </p:cNvPicPr>
          <p:nvPr/>
        </p:nvPicPr>
        <p:blipFill>
          <a:blip r:embed="rId2"/>
          <a:stretch>
            <a:fillRect/>
          </a:stretch>
        </p:blipFill>
        <p:spPr>
          <a:xfrm>
            <a:off x="-1" y="122828"/>
            <a:ext cx="4531058" cy="2717244"/>
          </a:xfrm>
          <a:prstGeom prst="rect">
            <a:avLst/>
          </a:prstGeom>
        </p:spPr>
      </p:pic>
      <p:pic>
        <p:nvPicPr>
          <p:cNvPr id="6" name="Picture 5"/>
          <p:cNvPicPr>
            <a:picLocks noChangeAspect="1"/>
          </p:cNvPicPr>
          <p:nvPr/>
        </p:nvPicPr>
        <p:blipFill>
          <a:blip r:embed="rId3"/>
          <a:stretch>
            <a:fillRect/>
          </a:stretch>
        </p:blipFill>
        <p:spPr>
          <a:xfrm>
            <a:off x="4531057" y="122828"/>
            <a:ext cx="4503761" cy="2717244"/>
          </a:xfrm>
          <a:prstGeom prst="rect">
            <a:avLst/>
          </a:prstGeom>
        </p:spPr>
      </p:pic>
      <p:pic>
        <p:nvPicPr>
          <p:cNvPr id="7" name="Picture 6"/>
          <p:cNvPicPr>
            <a:picLocks noChangeAspect="1"/>
          </p:cNvPicPr>
          <p:nvPr/>
        </p:nvPicPr>
        <p:blipFill>
          <a:blip r:embed="rId4"/>
          <a:stretch>
            <a:fillRect/>
          </a:stretch>
        </p:blipFill>
        <p:spPr>
          <a:xfrm>
            <a:off x="1" y="2840072"/>
            <a:ext cx="4531056" cy="2687270"/>
          </a:xfrm>
          <a:prstGeom prst="rect">
            <a:avLst/>
          </a:prstGeom>
        </p:spPr>
      </p:pic>
      <p:pic>
        <p:nvPicPr>
          <p:cNvPr id="8" name="Picture 7"/>
          <p:cNvPicPr>
            <a:picLocks noChangeAspect="1"/>
          </p:cNvPicPr>
          <p:nvPr/>
        </p:nvPicPr>
        <p:blipFill>
          <a:blip r:embed="rId5"/>
          <a:stretch>
            <a:fillRect/>
          </a:stretch>
        </p:blipFill>
        <p:spPr>
          <a:xfrm>
            <a:off x="4531057" y="2840072"/>
            <a:ext cx="4503761" cy="2687270"/>
          </a:xfrm>
          <a:prstGeom prst="rect">
            <a:avLst/>
          </a:prstGeom>
        </p:spPr>
      </p:pic>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60" algn="ctr">
              <a:lnSpc>
                <a:spcPct val="100000"/>
              </a:lnSpc>
              <a:buClr>
                <a:srgbClr val="000000"/>
              </a:buClr>
            </a:pPr>
            <a:r>
              <a:rPr lang="en-US" sz="4000" spc="-1" dirty="0">
                <a:solidFill>
                  <a:srgbClr val="FF0000"/>
                </a:solidFill>
                <a:uFill>
                  <a:solidFill>
                    <a:srgbClr val="FFFFFF"/>
                  </a:solidFill>
                </a:uFill>
                <a:latin typeface="Times New Roman" panose="02020603050405020304" pitchFamily="18" charset="0"/>
                <a:cs typeface="Times New Roman" panose="02020603050405020304" pitchFamily="18" charset="0"/>
              </a:rPr>
              <a:t>KEY WORDS (Cont’d)</a:t>
            </a:r>
          </a:p>
          <a:p>
            <a:pPr marL="360" algn="ctr">
              <a:lnSpc>
                <a:spcPct val="100000"/>
              </a:lnSpc>
              <a:buClr>
                <a:srgbClr val="000000"/>
              </a:buClr>
            </a:pPr>
            <a:endParaRPr lang="en-US" sz="2800" spc="-1" dirty="0">
              <a:solidFill>
                <a:srgbClr val="FF0000"/>
              </a:solidFill>
              <a:uFill>
                <a:solidFill>
                  <a:srgbClr val="FFFFFF"/>
                </a:solidFill>
              </a:uFill>
              <a:latin typeface="Segoe UI Semibold"/>
            </a:endParaRPr>
          </a:p>
          <a:p>
            <a:pPr marL="457560" indent="-457200" algn="just">
              <a:lnSpc>
                <a:spcPct val="100000"/>
              </a:lnSpc>
              <a:buClr>
                <a:srgbClr val="000000"/>
              </a:buClr>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Value-Addition: </a:t>
            </a:r>
            <a:r>
              <a:rPr lang="en-US" sz="2800" dirty="0">
                <a:latin typeface="Times New Roman" panose="02020603050405020304" pitchFamily="18" charset="0"/>
                <a:cs typeface="Times New Roman" panose="02020603050405020304" pitchFamily="18" charset="0"/>
              </a:rPr>
              <a:t>This involves foods transformation of raw agricultural produce into more desirable, convenient, and nutritious products to increase their market value, shelf life and consumers’ acceptability</a:t>
            </a:r>
          </a:p>
          <a:p>
            <a:pPr marL="457560" indent="-457200" algn="just">
              <a:lnSpc>
                <a:spcPct val="100000"/>
              </a:lnSpc>
              <a:buClr>
                <a:srgbClr val="000000"/>
              </a:buClr>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560" indent="-457200" algn="just">
              <a:lnSpc>
                <a:spcPct val="100000"/>
              </a:lnSpc>
              <a:buClr>
                <a:srgbClr val="000000"/>
              </a:buClr>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Impact of value addition to National Development</a:t>
            </a:r>
            <a:r>
              <a:rPr lang="en-US" sz="2800" dirty="0">
                <a:latin typeface="Times New Roman" panose="02020603050405020304" pitchFamily="18" charset="0"/>
                <a:cs typeface="Times New Roman" panose="02020603050405020304" pitchFamily="18" charset="0"/>
              </a:rPr>
              <a:t>: Value addition contributes to national development by driving economic growth, improving </a:t>
            </a:r>
            <a:r>
              <a:rPr lang="en-US" sz="2800" dirty="0">
                <a:solidFill>
                  <a:srgbClr val="FF0000"/>
                </a:solidFill>
                <a:latin typeface="Times New Roman" panose="02020603050405020304" pitchFamily="18" charset="0"/>
                <a:cs typeface="Times New Roman" panose="02020603050405020304" pitchFamily="18" charset="0"/>
              </a:rPr>
              <a:t>FOOD SECURITY</a:t>
            </a:r>
            <a:r>
              <a:rPr lang="en-US" sz="2800" dirty="0">
                <a:latin typeface="Times New Roman" panose="02020603050405020304" pitchFamily="18" charset="0"/>
                <a:cs typeface="Times New Roman" panose="02020603050405020304" pitchFamily="18" charset="0"/>
              </a:rPr>
              <a:t> and fostering social progress – </a:t>
            </a:r>
          </a:p>
          <a:p>
            <a:pPr marL="360" algn="just">
              <a:lnSpc>
                <a:spcPct val="100000"/>
              </a:lnSpc>
              <a:buClr>
                <a:srgbClr val="000000"/>
              </a:buClr>
            </a:pPr>
            <a:endParaRPr lang="en-US" sz="2800" dirty="0">
              <a:latin typeface="Times New Roman" panose="02020603050405020304" pitchFamily="18" charset="0"/>
              <a:cs typeface="Times New Roman" panose="02020603050405020304" pitchFamily="18" charset="0"/>
            </a:endParaRPr>
          </a:p>
          <a:p>
            <a:pPr marL="360" algn="just">
              <a:lnSpc>
                <a:spcPct val="100000"/>
              </a:lnSpc>
              <a:buClr>
                <a:srgbClr val="000000"/>
              </a:buClr>
            </a:pPr>
            <a:r>
              <a:rPr lang="en-US" sz="2800" dirty="0">
                <a:solidFill>
                  <a:schemeClr val="tx2"/>
                </a:solidFill>
                <a:latin typeface="Times New Roman" panose="02020603050405020304" pitchFamily="18" charset="0"/>
                <a:cs typeface="Times New Roman" panose="02020603050405020304" pitchFamily="18" charset="0"/>
              </a:rPr>
              <a:t>economic growth</a:t>
            </a:r>
            <a:r>
              <a:rPr lang="en-US" sz="2800" dirty="0">
                <a:latin typeface="Times New Roman" panose="02020603050405020304" pitchFamily="18" charset="0"/>
                <a:cs typeface="Times New Roman" panose="02020603050405020304" pitchFamily="18" charset="0"/>
              </a:rPr>
              <a:t>; </a:t>
            </a:r>
            <a:r>
              <a:rPr lang="en-US" sz="2800" dirty="0">
                <a:solidFill>
                  <a:srgbClr val="FF0000"/>
                </a:solidFill>
                <a:latin typeface="Times New Roman" panose="02020603050405020304" pitchFamily="18" charset="0"/>
                <a:cs typeface="Times New Roman" panose="02020603050405020304" pitchFamily="18" charset="0"/>
              </a:rPr>
              <a:t>FOOD SECURITY </a:t>
            </a:r>
            <a:r>
              <a:rPr lang="en-US" sz="2800" dirty="0">
                <a:latin typeface="Times New Roman" panose="02020603050405020304" pitchFamily="18" charset="0"/>
                <a:cs typeface="Times New Roman" panose="02020603050405020304" pitchFamily="18" charset="0"/>
              </a:rPr>
              <a:t>and waste management; rural development; </a:t>
            </a:r>
            <a:r>
              <a:rPr lang="en-US" sz="2800" dirty="0">
                <a:solidFill>
                  <a:srgbClr val="7030A0"/>
                </a:solidFill>
                <a:latin typeface="Times New Roman" panose="02020603050405020304" pitchFamily="18" charset="0"/>
                <a:cs typeface="Times New Roman" panose="02020603050405020304" pitchFamily="18" charset="0"/>
              </a:rPr>
              <a:t>health and nutrition</a:t>
            </a:r>
            <a:r>
              <a:rPr lang="en-US" sz="2800" dirty="0">
                <a:latin typeface="Times New Roman" panose="02020603050405020304" pitchFamily="18" charset="0"/>
                <a:cs typeface="Times New Roman" panose="02020603050405020304" pitchFamily="18" charset="0"/>
              </a:rPr>
              <a:t>; </a:t>
            </a:r>
            <a:r>
              <a:rPr lang="en-US" sz="2800" dirty="0">
                <a:solidFill>
                  <a:schemeClr val="accent3"/>
                </a:solidFill>
                <a:latin typeface="Times New Roman" panose="02020603050405020304" pitchFamily="18" charset="0"/>
                <a:cs typeface="Times New Roman" panose="02020603050405020304" pitchFamily="18" charset="0"/>
              </a:rPr>
              <a:t>industrial and technological advancement</a:t>
            </a:r>
          </a:p>
          <a:p>
            <a:pPr marL="457560" indent="-457200" algn="just">
              <a:lnSpc>
                <a:spcPct val="100000"/>
              </a:lnSpc>
              <a:buClr>
                <a:srgbClr val="000000"/>
              </a:buClr>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560" indent="-457200" algn="just">
              <a:lnSpc>
                <a:spcPct val="100000"/>
              </a:lnSpc>
              <a:buClr>
                <a:srgbClr val="000000"/>
              </a:buClr>
              <a:buFont typeface="Wingdings" panose="05000000000000000000" pitchFamily="2" charset="2"/>
              <a:buChar char="Ø"/>
            </a:pPr>
            <a:endParaRPr lang="en-US" sz="2800"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marL="457560" indent="-457200" algn="just">
              <a:lnSpc>
                <a:spcPct val="100000"/>
              </a:lnSpc>
              <a:buClr>
                <a:srgbClr val="000000"/>
              </a:buClr>
              <a:buFont typeface="Wingdings" panose="05000000000000000000" pitchFamily="2" charset="2"/>
              <a:buChar char="Ø"/>
            </a:pPr>
            <a:endParaRPr lang="en-US" sz="2400" spc="-1" dirty="0">
              <a:solidFill>
                <a:srgbClr val="000000"/>
              </a:solidFill>
              <a:uFill>
                <a:solidFill>
                  <a:srgbClr val="FFFFFF"/>
                </a:solidFill>
              </a:uFill>
              <a:latin typeface="Segoe UI Semibold"/>
            </a:endParaRPr>
          </a:p>
          <a:p>
            <a:pPr marL="457200" indent="-456840" algn="just">
              <a:lnSpc>
                <a:spcPct val="100000"/>
              </a:lnSpc>
              <a:buClr>
                <a:srgbClr val="000000"/>
              </a:buClr>
              <a:buFont typeface="Wingdings" panose="05000000000000000000" pitchFamily="2" charset="2"/>
              <a:buChar char="Ø"/>
            </a:pPr>
            <a:endParaRPr lang="en-US" sz="2400" spc="-1" dirty="0">
              <a:solidFill>
                <a:srgbClr val="000000"/>
              </a:solidFill>
              <a:uFill>
                <a:solidFill>
                  <a:srgbClr val="FFFFFF"/>
                </a:solidFill>
              </a:uFill>
              <a:latin typeface="Segoe UI Semibold"/>
            </a:endParaRPr>
          </a:p>
        </p:txBody>
      </p:sp>
    </p:spTree>
    <p:extLst>
      <p:ext uri="{BB962C8B-B14F-4D97-AF65-F5344CB8AC3E}">
        <p14:creationId xmlns:p14="http://schemas.microsoft.com/office/powerpoint/2010/main" val="53973871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60" algn="ctr">
              <a:lnSpc>
                <a:spcPct val="100000"/>
              </a:lnSpc>
              <a:buClr>
                <a:srgbClr val="000000"/>
              </a:buClr>
            </a:pPr>
            <a:r>
              <a:rPr lang="en-US" sz="4000" spc="-1" dirty="0">
                <a:solidFill>
                  <a:srgbClr val="FF0000"/>
                </a:solidFill>
                <a:uFill>
                  <a:solidFill>
                    <a:srgbClr val="FFFFFF"/>
                  </a:solidFill>
                </a:uFill>
                <a:latin typeface="Times New Roman" panose="02020603050405020304" pitchFamily="18" charset="0"/>
                <a:cs typeface="Times New Roman" panose="02020603050405020304" pitchFamily="18" charset="0"/>
              </a:rPr>
              <a:t>Food Security</a:t>
            </a:r>
          </a:p>
          <a:p>
            <a:pPr marL="360" algn="ctr">
              <a:lnSpc>
                <a:spcPct val="100000"/>
              </a:lnSpc>
              <a:buClr>
                <a:srgbClr val="000000"/>
              </a:buClr>
            </a:pPr>
            <a:endParaRPr lang="en-US" sz="2800" spc="-1" dirty="0">
              <a:solidFill>
                <a:srgbClr val="FF0000"/>
              </a:solidFill>
              <a:uFill>
                <a:solidFill>
                  <a:srgbClr val="FFFFFF"/>
                </a:solidFill>
              </a:uFill>
              <a:latin typeface="Segoe UI Semibold"/>
            </a:endParaRPr>
          </a:p>
          <a:p>
            <a:pPr marL="360" algn="just">
              <a:buClr>
                <a:srgbClr val="000000"/>
              </a:buClr>
            </a:pPr>
            <a:r>
              <a:rPr lang="en-US" sz="2800" dirty="0">
                <a:latin typeface="Times New Roman" panose="02020603050405020304" pitchFamily="18" charset="0"/>
                <a:cs typeface="Times New Roman" panose="02020603050405020304" pitchFamily="18" charset="0"/>
              </a:rPr>
              <a:t>Food security only exists when all people, at all times, have </a:t>
            </a:r>
            <a:r>
              <a:rPr lang="en-US" sz="2800" dirty="0">
                <a:solidFill>
                  <a:srgbClr val="FF0000"/>
                </a:solidFill>
                <a:latin typeface="Times New Roman" panose="02020603050405020304" pitchFamily="18" charset="0"/>
                <a:cs typeface="Times New Roman" panose="02020603050405020304" pitchFamily="18" charset="0"/>
              </a:rPr>
              <a:t>physical and economic access</a:t>
            </a:r>
            <a:r>
              <a:rPr lang="en-US" sz="2800" dirty="0">
                <a:latin typeface="Times New Roman" panose="02020603050405020304" pitchFamily="18" charset="0"/>
                <a:cs typeface="Times New Roman" panose="02020603050405020304" pitchFamily="18" charset="0"/>
              </a:rPr>
              <a:t> to </a:t>
            </a:r>
            <a:r>
              <a:rPr lang="en-US" sz="2800" dirty="0">
                <a:solidFill>
                  <a:srgbClr val="FF0000"/>
                </a:solidFill>
                <a:latin typeface="Times New Roman" panose="02020603050405020304" pitchFamily="18" charset="0"/>
                <a:cs typeface="Times New Roman" panose="02020603050405020304" pitchFamily="18" charset="0"/>
              </a:rPr>
              <a:t>sufficient, safe and nutritious</a:t>
            </a:r>
            <a:r>
              <a:rPr lang="en-US" sz="2800" dirty="0">
                <a:latin typeface="Times New Roman" panose="02020603050405020304" pitchFamily="18" charset="0"/>
                <a:cs typeface="Times New Roman" panose="02020603050405020304" pitchFamily="18" charset="0"/>
              </a:rPr>
              <a:t> food that meets their dietary needs and food preferences for an active and healthy life.</a:t>
            </a:r>
          </a:p>
          <a:p>
            <a:pPr marL="360" algn="just">
              <a:buClr>
                <a:srgbClr val="000000"/>
              </a:buClr>
            </a:pPr>
            <a:endParaRPr lang="en-US" sz="2800" dirty="0">
              <a:latin typeface="Times New Roman" panose="02020603050405020304" pitchFamily="18" charset="0"/>
              <a:cs typeface="Times New Roman" panose="02020603050405020304" pitchFamily="18" charset="0"/>
            </a:endParaRPr>
          </a:p>
          <a:p>
            <a:pPr marL="360" algn="just">
              <a:buClr>
                <a:srgbClr val="000000"/>
              </a:buClr>
            </a:pPr>
            <a:r>
              <a:rPr lang="en-US" sz="2800" dirty="0">
                <a:latin typeface="Times New Roman" panose="02020603050405020304" pitchFamily="18" charset="0"/>
                <a:cs typeface="Times New Roman" panose="02020603050405020304" pitchFamily="18" charset="0"/>
              </a:rPr>
              <a:t>This definition of </a:t>
            </a:r>
            <a:r>
              <a:rPr lang="en-US" sz="2800" dirty="0">
                <a:solidFill>
                  <a:srgbClr val="FF0000"/>
                </a:solidFill>
                <a:latin typeface="Times New Roman" panose="02020603050405020304" pitchFamily="18" charset="0"/>
                <a:cs typeface="Times New Roman" panose="02020603050405020304" pitchFamily="18" charset="0"/>
              </a:rPr>
              <a:t>Food Security</a:t>
            </a:r>
            <a:r>
              <a:rPr lang="en-US" sz="2800" dirty="0">
                <a:latin typeface="Times New Roman" panose="02020603050405020304" pitchFamily="18" charset="0"/>
                <a:cs typeface="Times New Roman" panose="02020603050405020304" pitchFamily="18" charset="0"/>
              </a:rPr>
              <a:t> points to the following dimensions of food security:</a:t>
            </a:r>
          </a:p>
          <a:p>
            <a:pPr marL="360" algn="just">
              <a:buClr>
                <a:srgbClr val="000000"/>
              </a:buClr>
            </a:pPr>
            <a:endParaRPr lang="en-US" sz="2800" dirty="0">
              <a:latin typeface="Times New Roman" panose="02020603050405020304" pitchFamily="18" charset="0"/>
              <a:cs typeface="Times New Roman" panose="02020603050405020304" pitchFamily="18" charset="0"/>
            </a:endParaRPr>
          </a:p>
          <a:p>
            <a:pPr lvl="0" algn="just"/>
            <a:r>
              <a:rPr lang="en-US" sz="2800" dirty="0">
                <a:solidFill>
                  <a:srgbClr val="7030A0"/>
                </a:solidFill>
                <a:latin typeface="Times New Roman" panose="02020603050405020304" pitchFamily="18" charset="0"/>
                <a:cs typeface="Times New Roman" panose="02020603050405020304" pitchFamily="18" charset="0"/>
              </a:rPr>
              <a:t>Food availability:</a:t>
            </a:r>
            <a:r>
              <a:rPr lang="en-US" sz="2800" dirty="0">
                <a:latin typeface="Times New Roman" panose="02020603050405020304" pitchFamily="18" charset="0"/>
                <a:cs typeface="Times New Roman" panose="02020603050405020304" pitchFamily="18" charset="0"/>
              </a:rPr>
              <a:t> The availability of sufficient quantities of food of appropriate quality, supplied through domestic production or imports (including food aids).</a:t>
            </a:r>
          </a:p>
          <a:p>
            <a:pPr lvl="0" algn="just"/>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688686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2830" y="6370395"/>
            <a:ext cx="8911988"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Plate 1: Impact of food security</a:t>
            </a:r>
          </a:p>
        </p:txBody>
      </p:sp>
      <p:graphicFrame>
        <p:nvGraphicFramePr>
          <p:cNvPr id="3" name="Table 2"/>
          <p:cNvGraphicFramePr>
            <a:graphicFrameLocks noGrp="1"/>
          </p:cNvGraphicFramePr>
          <p:nvPr>
            <p:extLst>
              <p:ext uri="{D42A27DB-BD31-4B8C-83A1-F6EECF244321}">
                <p14:modId xmlns:p14="http://schemas.microsoft.com/office/powerpoint/2010/main" val="912997312"/>
              </p:ext>
            </p:extLst>
          </p:nvPr>
        </p:nvGraphicFramePr>
        <p:xfrm>
          <a:off x="0" y="122828"/>
          <a:ext cx="9034818" cy="5404514"/>
        </p:xfrm>
        <a:graphic>
          <a:graphicData uri="http://schemas.openxmlformats.org/drawingml/2006/table">
            <a:tbl>
              <a:tblPr firstRow="1" bandRow="1">
                <a:tableStyleId>{5C22544A-7EE6-4342-B048-85BDC9FD1C3A}</a:tableStyleId>
              </a:tblPr>
              <a:tblGrid>
                <a:gridCol w="4517409">
                  <a:extLst>
                    <a:ext uri="{9D8B030D-6E8A-4147-A177-3AD203B41FA5}">
                      <a16:colId xmlns:a16="http://schemas.microsoft.com/office/drawing/2014/main" val="20000"/>
                    </a:ext>
                  </a:extLst>
                </a:gridCol>
                <a:gridCol w="4517409">
                  <a:extLst>
                    <a:ext uri="{9D8B030D-6E8A-4147-A177-3AD203B41FA5}">
                      <a16:colId xmlns:a16="http://schemas.microsoft.com/office/drawing/2014/main" val="20001"/>
                    </a:ext>
                  </a:extLst>
                </a:gridCol>
              </a:tblGrid>
              <a:tr h="270225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270225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bl>
          </a:graphicData>
        </a:graphic>
      </p:graphicFrame>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17410" y="122828"/>
            <a:ext cx="4517408" cy="2674963"/>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797791"/>
            <a:ext cx="4517410" cy="2729551"/>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17410" y="2797791"/>
            <a:ext cx="4517408" cy="2729551"/>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22829"/>
            <a:ext cx="4517410" cy="2674962"/>
          </a:xfrm>
          <a:prstGeom prst="rect">
            <a:avLst/>
          </a:prstGeom>
        </p:spPr>
      </p:pic>
    </p:spTree>
    <p:extLst>
      <p:ext uri="{BB962C8B-B14F-4D97-AF65-F5344CB8AC3E}">
        <p14:creationId xmlns:p14="http://schemas.microsoft.com/office/powerpoint/2010/main" val="358323839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60" algn="ctr">
              <a:lnSpc>
                <a:spcPct val="100000"/>
              </a:lnSpc>
              <a:buClr>
                <a:srgbClr val="000000"/>
              </a:buClr>
            </a:pPr>
            <a:r>
              <a:rPr lang="en-US" sz="4000" spc="-1" dirty="0">
                <a:solidFill>
                  <a:srgbClr val="FF0000"/>
                </a:solidFill>
                <a:uFill>
                  <a:solidFill>
                    <a:srgbClr val="FFFFFF"/>
                  </a:solidFill>
                </a:uFill>
                <a:latin typeface="Times New Roman" panose="02020603050405020304" pitchFamily="18" charset="0"/>
                <a:cs typeface="Times New Roman" panose="02020603050405020304" pitchFamily="18" charset="0"/>
              </a:rPr>
              <a:t>Food Security (Cont’d)</a:t>
            </a:r>
          </a:p>
          <a:p>
            <a:pPr marL="360" algn="ctr">
              <a:lnSpc>
                <a:spcPct val="100000"/>
              </a:lnSpc>
              <a:buClr>
                <a:srgbClr val="000000"/>
              </a:buClr>
            </a:pPr>
            <a:endParaRPr lang="en-US" sz="2800" spc="-1" dirty="0">
              <a:solidFill>
                <a:srgbClr val="FF0000"/>
              </a:solidFill>
              <a:uFill>
                <a:solidFill>
                  <a:srgbClr val="FFFFFF"/>
                </a:solidFill>
              </a:uFill>
              <a:latin typeface="Segoe UI Semibold"/>
            </a:endParaRPr>
          </a:p>
          <a:p>
            <a:pPr lvl="0" algn="just"/>
            <a:r>
              <a:rPr lang="en-US" sz="2800" dirty="0">
                <a:solidFill>
                  <a:srgbClr val="7030A0"/>
                </a:solidFill>
                <a:latin typeface="Times New Roman" panose="02020603050405020304" pitchFamily="18" charset="0"/>
                <a:cs typeface="Times New Roman" panose="02020603050405020304" pitchFamily="18" charset="0"/>
              </a:rPr>
              <a:t>Food access</a:t>
            </a:r>
            <a:r>
              <a:rPr lang="en-US" sz="2800" dirty="0">
                <a:latin typeface="Times New Roman" panose="02020603050405020304" pitchFamily="18" charset="0"/>
                <a:cs typeface="Times New Roman" panose="02020603050405020304" pitchFamily="18" charset="0"/>
              </a:rPr>
              <a:t>: Access by individuals to adequate resources (entitlements) for acquiring appropriate foods for a nutritious diet – entitlements</a:t>
            </a:r>
          </a:p>
          <a:p>
            <a:pPr lvl="0" algn="just"/>
            <a:endParaRPr lang="en-US" sz="2800" dirty="0">
              <a:latin typeface="Times New Roman" panose="02020603050405020304" pitchFamily="18" charset="0"/>
              <a:cs typeface="Times New Roman" panose="02020603050405020304" pitchFamily="18" charset="0"/>
            </a:endParaRPr>
          </a:p>
          <a:p>
            <a:pPr lvl="0" algn="just"/>
            <a:r>
              <a:rPr lang="en-US" sz="2800" dirty="0">
                <a:solidFill>
                  <a:srgbClr val="7030A0"/>
                </a:solidFill>
                <a:latin typeface="Times New Roman" panose="02020603050405020304" pitchFamily="18" charset="0"/>
                <a:cs typeface="Times New Roman" panose="02020603050405020304" pitchFamily="18" charset="0"/>
              </a:rPr>
              <a:t>Utilization</a:t>
            </a:r>
            <a:r>
              <a:rPr lang="en-US" sz="2800" dirty="0">
                <a:latin typeface="Times New Roman" panose="02020603050405020304" pitchFamily="18" charset="0"/>
                <a:cs typeface="Times New Roman" panose="02020603050405020304" pitchFamily="18" charset="0"/>
              </a:rPr>
              <a:t>: Utilization of food through adequate diet, clean water, sanitation and health care to reach a state of nutritional well-being where all physiological needs are met. </a:t>
            </a:r>
          </a:p>
          <a:p>
            <a:pPr lvl="0" algn="just"/>
            <a:endParaRPr lang="en-US" sz="2800" dirty="0">
              <a:latin typeface="Times New Roman" panose="02020603050405020304" pitchFamily="18" charset="0"/>
              <a:cs typeface="Times New Roman" panose="02020603050405020304" pitchFamily="18" charset="0"/>
            </a:endParaRPr>
          </a:p>
          <a:p>
            <a:pPr lvl="0" algn="just"/>
            <a:r>
              <a:rPr lang="en-US" sz="2800" dirty="0">
                <a:solidFill>
                  <a:srgbClr val="FF0000"/>
                </a:solidFill>
                <a:latin typeface="Times New Roman" panose="02020603050405020304" pitchFamily="18" charset="0"/>
                <a:cs typeface="Times New Roman" panose="02020603050405020304" pitchFamily="18" charset="0"/>
              </a:rPr>
              <a:t>This brings out the importance of non-food inputs in food security.</a:t>
            </a:r>
          </a:p>
          <a:p>
            <a:pPr lvl="0"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819821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60" algn="ctr">
              <a:lnSpc>
                <a:spcPct val="100000"/>
              </a:lnSpc>
              <a:buClr>
                <a:srgbClr val="000000"/>
              </a:buClr>
            </a:pPr>
            <a:r>
              <a:rPr lang="en-US" sz="4000" spc="-1" dirty="0">
                <a:solidFill>
                  <a:srgbClr val="FF0000"/>
                </a:solidFill>
                <a:uFill>
                  <a:solidFill>
                    <a:srgbClr val="FFFFFF"/>
                  </a:solidFill>
                </a:uFill>
                <a:latin typeface="Times New Roman" panose="02020603050405020304" pitchFamily="18" charset="0"/>
                <a:cs typeface="Times New Roman" panose="02020603050405020304" pitchFamily="18" charset="0"/>
              </a:rPr>
              <a:t>Food Security (Cont’d)</a:t>
            </a:r>
          </a:p>
          <a:p>
            <a:pPr marL="360" algn="ctr">
              <a:lnSpc>
                <a:spcPct val="100000"/>
              </a:lnSpc>
              <a:buClr>
                <a:srgbClr val="000000"/>
              </a:buClr>
            </a:pPr>
            <a:endParaRPr lang="en-US" sz="2800" spc="-1" dirty="0">
              <a:solidFill>
                <a:srgbClr val="FF0000"/>
              </a:solidFill>
              <a:uFill>
                <a:solidFill>
                  <a:srgbClr val="FFFFFF"/>
                </a:solidFill>
              </a:uFill>
              <a:latin typeface="Segoe UI Semibold"/>
            </a:endParaRPr>
          </a:p>
          <a:p>
            <a:pPr lvl="0" algn="just"/>
            <a:r>
              <a:rPr lang="en-US" sz="2800" dirty="0">
                <a:solidFill>
                  <a:schemeClr val="tx2"/>
                </a:solidFill>
                <a:latin typeface="Times New Roman" panose="02020603050405020304" pitchFamily="18" charset="0"/>
                <a:cs typeface="Times New Roman" panose="02020603050405020304" pitchFamily="18" charset="0"/>
              </a:rPr>
              <a:t>Stability</a:t>
            </a:r>
            <a:r>
              <a:rPr lang="en-US" sz="2800" dirty="0">
                <a:latin typeface="Times New Roman" panose="02020603050405020304" pitchFamily="18" charset="0"/>
                <a:cs typeface="Times New Roman" panose="02020603050405020304" pitchFamily="18" charset="0"/>
              </a:rPr>
              <a:t>: To be food secure, a population, household or individual must have access to adequate food at all times. </a:t>
            </a:r>
          </a:p>
          <a:p>
            <a:pPr lvl="0" algn="just"/>
            <a:endParaRPr lang="en-US" sz="2800" dirty="0">
              <a:latin typeface="Times New Roman" panose="02020603050405020304" pitchFamily="18" charset="0"/>
              <a:cs typeface="Times New Roman" panose="02020603050405020304" pitchFamily="18" charset="0"/>
            </a:endParaRPr>
          </a:p>
          <a:p>
            <a:pPr lvl="0" algn="just"/>
            <a:r>
              <a:rPr lang="en-US" sz="2800" dirty="0">
                <a:solidFill>
                  <a:schemeClr val="tx2"/>
                </a:solidFill>
                <a:latin typeface="Times New Roman" panose="02020603050405020304" pitchFamily="18" charset="0"/>
                <a:cs typeface="Times New Roman" panose="02020603050405020304" pitchFamily="18" charset="0"/>
              </a:rPr>
              <a:t>They should not risk losing access to food as a consequence of sudden shocks (e.g. an economic or climatic crisis) or cyclical events (e.g. seasonal food insecurity). </a:t>
            </a:r>
          </a:p>
          <a:p>
            <a:pPr lvl="0" algn="just"/>
            <a:endParaRPr lang="en-US" sz="2800" dirty="0">
              <a:latin typeface="Times New Roman" panose="02020603050405020304" pitchFamily="18" charset="0"/>
              <a:cs typeface="Times New Roman" panose="02020603050405020304" pitchFamily="18" charset="0"/>
            </a:endParaRPr>
          </a:p>
          <a:p>
            <a:pPr algn="just"/>
            <a:r>
              <a:rPr lang="en-US" sz="4000" dirty="0">
                <a:solidFill>
                  <a:srgbClr val="FF0000"/>
                </a:solidFill>
                <a:latin typeface="Times New Roman" panose="02020603050405020304" pitchFamily="18" charset="0"/>
                <a:cs typeface="Times New Roman" panose="02020603050405020304" pitchFamily="18" charset="0"/>
              </a:rPr>
              <a:t>The State of Food Security in Nigeria</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National food security is the ability of a country to ensure on a long-term basis that its food systems provide the total population with access to timely, reliable and nutritionally adequate supply of food</a:t>
            </a:r>
            <a:endParaRPr lang="en-US" sz="2800" u="sng" dirty="0">
              <a:solidFill>
                <a:srgbClr val="FF0000"/>
              </a:solidFill>
              <a:latin typeface="Times New Roman" panose="02020603050405020304" pitchFamily="18" charset="0"/>
              <a:cs typeface="Times New Roman" panose="02020603050405020304" pitchFamily="18" charset="0"/>
            </a:endParaRPr>
          </a:p>
          <a:p>
            <a:pPr lvl="0"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037481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4000" dirty="0">
                    <a:solidFill>
                      <a:srgbClr val="FF0000"/>
                    </a:solidFill>
                    <a:latin typeface="Times New Roman" panose="02020603050405020304" pitchFamily="18" charset="0"/>
                    <a:cs typeface="Times New Roman" panose="02020603050405020304" pitchFamily="18" charset="0"/>
                  </a:rPr>
                  <a:t>The State of Food Security in Nigeria</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At the </a:t>
                </a:r>
                <a:r>
                  <a:rPr lang="en-US" sz="2800" b="1" dirty="0">
                    <a:latin typeface="Times New Roman" panose="02020603050405020304" pitchFamily="18" charset="0"/>
                    <a:cs typeface="Times New Roman" panose="02020603050405020304" pitchFamily="18" charset="0"/>
                  </a:rPr>
                  <a:t>conceptual level</a:t>
                </a:r>
                <a:r>
                  <a:rPr lang="en-US" sz="2800" dirty="0">
                    <a:latin typeface="Times New Roman" panose="02020603050405020304" pitchFamily="18" charset="0"/>
                    <a:cs typeface="Times New Roman" panose="02020603050405020304" pitchFamily="18" charset="0"/>
                  </a:rPr>
                  <a:t>, there are three distinct possibilities for a country to pursue the goal of national food security. These are:</a:t>
                </a:r>
              </a:p>
              <a:p>
                <a:pPr algn="just"/>
                <a:endParaRPr lang="en-US" sz="2800" b="1" i="1" dirty="0">
                  <a:latin typeface="Times New Roman" panose="02020603050405020304" pitchFamily="18" charset="0"/>
                  <a:cs typeface="Times New Roman" panose="02020603050405020304" pitchFamily="18" charset="0"/>
                </a:endParaRPr>
              </a:p>
              <a:p>
                <a:pPr algn="just"/>
                <a:r>
                  <a:rPr lang="en-US" sz="2800" b="1" dirty="0">
                    <a:solidFill>
                      <a:schemeClr val="accent1"/>
                    </a:solidFill>
                    <a:latin typeface="Times New Roman" panose="02020603050405020304" pitchFamily="18" charset="0"/>
                    <a:cs typeface="Times New Roman" panose="02020603050405020304" pitchFamily="18" charset="0"/>
                  </a:rPr>
                  <a:t>Food self-sufficiency</a:t>
                </a:r>
                <a:r>
                  <a:rPr lang="en-US" sz="2800" dirty="0">
                    <a:solidFill>
                      <a:schemeClr val="accent1"/>
                    </a:solidFill>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This refers to the extent to which a nation can meet its food needs through its own domestic production, rather than relying on imports. Self sufficiency ratio is then expressed as:</a:t>
                </a:r>
              </a:p>
              <a:p>
                <a:pPr algn="ctr"/>
                <a14:m>
                  <m:oMath xmlns:m="http://schemas.openxmlformats.org/officeDocument/2006/math">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𝑆𝑆𝑅</m:t>
                    </m:r>
                    <m:r>
                      <a:rPr lang="en-US" sz="280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US" sz="280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𝑃𝑟𝑜𝑑𝑢𝑐𝑡𝑖𝑜𝑛</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×100</m:t>
                        </m:r>
                      </m:num>
                      <m:den>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𝑃𝑟𝑜𝑑𝑢𝑐𝑡𝑖𝑜𝑛</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𝐼𝑚𝑝𝑜𝑟𝑡𝑠</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 −</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𝐸𝑥𝑝𝑜𝑟𝑡𝑠</m:t>
                        </m:r>
                      </m:den>
                    </m:f>
                  </m:oMath>
                </a14:m>
                <a:r>
                  <a:rPr lang="en-US" sz="2800" dirty="0">
                    <a:latin typeface="Times New Roman" panose="02020603050405020304" pitchFamily="18" charset="0"/>
                    <a:cs typeface="Times New Roman" panose="02020603050405020304" pitchFamily="18" charset="0"/>
                  </a:rPr>
                  <a:t> </a:t>
                </a:r>
              </a:p>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This was the feature of very primitive economic systems</a:t>
                </a:r>
              </a:p>
              <a:p>
                <a:pPr algn="just"/>
                <a:endParaRPr lang="en-US" sz="2800" b="1" i="1" dirty="0">
                  <a:latin typeface="Times New Roman" panose="02020603050405020304" pitchFamily="18" charset="0"/>
                  <a:cs typeface="Times New Roman" panose="02020603050405020304" pitchFamily="18" charset="0"/>
                </a:endParaRPr>
              </a:p>
              <a:p>
                <a:pPr algn="just"/>
                <a:endParaRPr lang="en-US" sz="2800" u="sng" dirty="0">
                  <a:solidFill>
                    <a:srgbClr val="FF0000"/>
                  </a:solidFill>
                  <a:latin typeface="Times New Roman" panose="02020603050405020304" pitchFamily="18" charset="0"/>
                  <a:cs typeface="Times New Roman" panose="02020603050405020304" pitchFamily="18" charset="0"/>
                </a:endParaRPr>
              </a:p>
              <a:p>
                <a:pPr lvl="0" algn="just"/>
                <a:endParaRPr lang="en-US" sz="2800" dirty="0">
                  <a:latin typeface="Times New Roman" panose="02020603050405020304" pitchFamily="18" charset="0"/>
                  <a:cs typeface="Times New Roman" panose="02020603050405020304" pitchFamily="18" charset="0"/>
                </a:endParaRPr>
              </a:p>
            </p:txBody>
          </p:sp>
        </mc:Choice>
        <mc:Fallback>
          <p:sp>
            <p:nvSpPr>
              <p:cNvPr id="163" name="CustomShape 1"/>
              <p:cNvSpPr>
                <a:spLocks noRot="1" noChangeAspect="1" noMove="1" noResize="1" noEditPoints="1" noAdjustHandles="1" noChangeArrowheads="1" noChangeShapeType="1" noTextEdit="1"/>
              </p:cNvSpPr>
              <p:nvPr/>
            </p:nvSpPr>
            <p:spPr>
              <a:xfrm>
                <a:off x="0" y="0"/>
                <a:ext cx="9143640" cy="6857640"/>
              </a:xfrm>
              <a:prstGeom prst="rect">
                <a:avLst/>
              </a:prstGeom>
              <a:blipFill>
                <a:blip r:embed="rId2"/>
                <a:stretch>
                  <a:fillRect l="-2400" t="-1600" r="-133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85531128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4000" dirty="0">
                <a:solidFill>
                  <a:srgbClr val="FF0000"/>
                </a:solidFill>
                <a:latin typeface="Times New Roman" panose="02020603050405020304" pitchFamily="18" charset="0"/>
                <a:cs typeface="Times New Roman" panose="02020603050405020304" pitchFamily="18" charset="0"/>
              </a:rPr>
              <a:t>The State of Food Security in Nigeria</a:t>
            </a:r>
          </a:p>
          <a:p>
            <a:pPr algn="just"/>
            <a:endParaRPr lang="en-US" sz="2800" dirty="0">
              <a:latin typeface="Times New Roman" panose="02020603050405020304" pitchFamily="18" charset="0"/>
              <a:cs typeface="Times New Roman" panose="02020603050405020304" pitchFamily="18" charset="0"/>
            </a:endParaRPr>
          </a:p>
          <a:p>
            <a:pPr algn="just"/>
            <a:r>
              <a:rPr lang="en-US" sz="2800" b="1" i="1" dirty="0">
                <a:solidFill>
                  <a:schemeClr val="tx2"/>
                </a:solidFill>
                <a:latin typeface="Times New Roman" panose="02020603050405020304" pitchFamily="18" charset="0"/>
                <a:cs typeface="Times New Roman" panose="02020603050405020304" pitchFamily="18" charset="0"/>
              </a:rPr>
              <a:t>Autarky</a:t>
            </a:r>
            <a:r>
              <a:rPr lang="en-US" sz="2800" dirty="0">
                <a:solidFill>
                  <a:schemeClr val="tx2"/>
                </a:solidFill>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this is the situation whereby a country embarks on a deliberate economic policy of isolating itself in order to attain food self-sufficiency and eliminate international trade. It is the opposite of free trade and open market system</a:t>
            </a:r>
          </a:p>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solidFill>
                  <a:schemeClr val="tx2"/>
                </a:solidFill>
                <a:latin typeface="Times New Roman" panose="02020603050405020304" pitchFamily="18" charset="0"/>
                <a:cs typeface="Times New Roman" panose="02020603050405020304" pitchFamily="18" charset="0"/>
              </a:rPr>
              <a:t>Some Asiatic countries have tried this extreme form of economic policy in the past  </a:t>
            </a:r>
          </a:p>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A notable example was China during the Cultural Revolution led by the late Mau Tse Tung; Japan Isolation; North Korea</a:t>
            </a:r>
          </a:p>
          <a:p>
            <a:pPr algn="just"/>
            <a:endParaRPr lang="en-US" sz="2800" u="sng" dirty="0">
              <a:solidFill>
                <a:srgbClr val="FF0000"/>
              </a:solidFill>
              <a:latin typeface="Times New Roman" panose="02020603050405020304" pitchFamily="18" charset="0"/>
              <a:cs typeface="Times New Roman" panose="02020603050405020304" pitchFamily="18" charset="0"/>
            </a:endParaRPr>
          </a:p>
          <a:p>
            <a:pPr lvl="0"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206433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4000" dirty="0">
                <a:solidFill>
                  <a:srgbClr val="FF0000"/>
                </a:solidFill>
                <a:latin typeface="Times New Roman" panose="02020603050405020304" pitchFamily="18" charset="0"/>
                <a:cs typeface="Times New Roman" panose="02020603050405020304" pitchFamily="18" charset="0"/>
              </a:rPr>
              <a:t>The State of Food Security in Nigeria</a:t>
            </a:r>
          </a:p>
          <a:p>
            <a:pPr algn="just"/>
            <a:endParaRPr lang="en-US" sz="2800" dirty="0">
              <a:latin typeface="Times New Roman" panose="02020603050405020304" pitchFamily="18" charset="0"/>
              <a:cs typeface="Times New Roman" panose="02020603050405020304" pitchFamily="18" charset="0"/>
            </a:endParaRPr>
          </a:p>
          <a:p>
            <a:pPr algn="just"/>
            <a:r>
              <a:rPr lang="en-US" sz="2800" b="1" i="1" dirty="0">
                <a:solidFill>
                  <a:schemeClr val="tx2"/>
                </a:solidFill>
                <a:latin typeface="Times New Roman" panose="02020603050405020304" pitchFamily="18" charset="0"/>
                <a:cs typeface="Times New Roman" panose="02020603050405020304" pitchFamily="18" charset="0"/>
              </a:rPr>
              <a:t>Food self-reliance</a:t>
            </a:r>
            <a:r>
              <a:rPr lang="en-US" sz="2800" dirty="0">
                <a:latin typeface="Times New Roman" panose="02020603050405020304" pitchFamily="18" charset="0"/>
                <a:cs typeface="Times New Roman" panose="02020603050405020304" pitchFamily="18" charset="0"/>
              </a:rPr>
              <a:t>: this means that a country is in firm control of its food needs and supplies through an integrated management of food production, export, import, storage, and distribution. Such a country produces those foods in which it has a comparative advantage.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solidFill>
                  <a:schemeClr val="accent1"/>
                </a:solidFill>
                <a:latin typeface="Times New Roman" panose="02020603050405020304" pitchFamily="18" charset="0"/>
                <a:cs typeface="Times New Roman" panose="02020603050405020304" pitchFamily="18" charset="0"/>
              </a:rPr>
              <a:t>In addition, the country maintains strategic food reserves to cope with emergencies such as in times of natural disasters via </a:t>
            </a:r>
            <a:r>
              <a:rPr lang="en-US" sz="2800" dirty="0">
                <a:solidFill>
                  <a:srgbClr val="FF0000"/>
                </a:solidFill>
                <a:latin typeface="Times New Roman" panose="02020603050405020304" pitchFamily="18" charset="0"/>
                <a:cs typeface="Times New Roman" panose="02020603050405020304" pitchFamily="18" charset="0"/>
              </a:rPr>
              <a:t>INDUSTRIAL REVOLUTIONS</a:t>
            </a:r>
            <a:endParaRPr lang="en-US" sz="2800" dirty="0">
              <a:solidFill>
                <a:schemeClr val="accent1"/>
              </a:solidFill>
              <a:latin typeface="Times New Roman" panose="02020603050405020304" pitchFamily="18" charset="0"/>
              <a:cs typeface="Times New Roman" panose="02020603050405020304" pitchFamily="18" charset="0"/>
            </a:endParaRP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What is the Present State of Food Security in Nigeria – Causes  and Probable Solutions?????</a:t>
            </a:r>
          </a:p>
          <a:p>
            <a:pPr lvl="0"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100185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endParaRPr lang="en-US" sz="2800" dirty="0">
              <a:solidFill>
                <a:srgbClr val="FF0000"/>
              </a:solidFill>
              <a:latin typeface="Times New Roman" panose="02020603050405020304" pitchFamily="18" charset="0"/>
              <a:cs typeface="Times New Roman" panose="02020603050405020304" pitchFamily="18" charset="0"/>
            </a:endParaRPr>
          </a:p>
          <a:p>
            <a:pPr algn="ctr"/>
            <a:r>
              <a:rPr lang="en-US" sz="4000" dirty="0">
                <a:solidFill>
                  <a:srgbClr val="FF0000"/>
                </a:solidFill>
                <a:latin typeface="Times New Roman" panose="02020603050405020304" pitchFamily="18" charset="0"/>
                <a:cs typeface="Times New Roman" panose="02020603050405020304" pitchFamily="18" charset="0"/>
              </a:rPr>
              <a:t>INDUSTRIAL REVOLUTIONS</a:t>
            </a:r>
          </a:p>
          <a:p>
            <a:pPr algn="just"/>
            <a:endParaRPr lang="en-US" sz="2800" dirty="0"/>
          </a:p>
          <a:p>
            <a:pPr algn="just"/>
            <a:r>
              <a:rPr lang="en-US" sz="2800" dirty="0">
                <a:latin typeface="Times New Roman" panose="02020603050405020304" pitchFamily="18" charset="0"/>
                <a:cs typeface="Times New Roman" panose="02020603050405020304" pitchFamily="18" charset="0"/>
              </a:rPr>
              <a:t>By the word “revolution”, we mean </a:t>
            </a:r>
            <a:r>
              <a:rPr lang="en-US" sz="2800" dirty="0">
                <a:solidFill>
                  <a:srgbClr val="FF0000"/>
                </a:solidFill>
                <a:latin typeface="Times New Roman" panose="02020603050405020304" pitchFamily="18" charset="0"/>
                <a:cs typeface="Times New Roman" panose="02020603050405020304" pitchFamily="18" charset="0"/>
              </a:rPr>
              <a:t>“abrupt and radical change”</a:t>
            </a:r>
            <a:r>
              <a:rPr lang="en-US" sz="2800" dirty="0">
                <a:latin typeface="Times New Roman" panose="02020603050405020304" pitchFamily="18" charset="0"/>
                <a:cs typeface="Times New Roman" panose="02020603050405020304" pitchFamily="18" charset="0"/>
              </a:rPr>
              <a:t>. </a:t>
            </a:r>
          </a:p>
          <a:p>
            <a:pPr algn="just"/>
            <a:r>
              <a:rPr lang="en-US" sz="2800" dirty="0">
                <a:latin typeface="Times New Roman" panose="02020603050405020304" pitchFamily="18" charset="0"/>
                <a:cs typeface="Times New Roman" panose="02020603050405020304" pitchFamily="18" charset="0"/>
              </a:rPr>
              <a:t>Although there is no society is static – every society is perpetually in transition.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An Industrial Revolution (IR) occurs when new technologies and or novel ways of perceiving the world trigger profound change in economic systems and social structures</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Causative agents of any IR: Energy; Communication and Transportation</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endParaRPr lang="en-US" sz="2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547836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endParaRPr lang="en-US" sz="2800" dirty="0">
              <a:solidFill>
                <a:srgbClr val="FF0000"/>
              </a:solidFill>
              <a:latin typeface="Times New Roman" panose="02020603050405020304" pitchFamily="18" charset="0"/>
              <a:cs typeface="Times New Roman" panose="02020603050405020304" pitchFamily="18" charset="0"/>
            </a:endParaRPr>
          </a:p>
          <a:p>
            <a:pPr algn="ctr"/>
            <a:r>
              <a:rPr lang="en-US" sz="4000" dirty="0">
                <a:solidFill>
                  <a:srgbClr val="FF0000"/>
                </a:solidFill>
                <a:latin typeface="Times New Roman" panose="02020603050405020304" pitchFamily="18" charset="0"/>
                <a:cs typeface="Times New Roman" panose="02020603050405020304" pitchFamily="18" charset="0"/>
              </a:rPr>
              <a:t>INDUSTRIAL REVOLUTIONS</a:t>
            </a:r>
          </a:p>
          <a:p>
            <a:pPr algn="ctr"/>
            <a:endParaRPr lang="en-US" sz="4000" dirty="0">
              <a:solidFill>
                <a:srgbClr val="FF0000"/>
              </a:solidFill>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Prior to IR, there was an </a:t>
            </a:r>
            <a:r>
              <a:rPr lang="en-US" sz="2800" dirty="0">
                <a:solidFill>
                  <a:srgbClr val="FF0000"/>
                </a:solidFill>
                <a:latin typeface="Times New Roman" panose="02020603050405020304" pitchFamily="18" charset="0"/>
                <a:cs typeface="Times New Roman" panose="02020603050405020304" pitchFamily="18" charset="0"/>
              </a:rPr>
              <a:t>Agrarian Revolution</a:t>
            </a:r>
            <a:r>
              <a:rPr lang="en-US" sz="2800"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Prior to this revolution, early men and women were </a:t>
            </a:r>
            <a:r>
              <a:rPr lang="en-US" sz="2800" dirty="0">
                <a:solidFill>
                  <a:srgbClr val="FF0000"/>
                </a:solidFill>
                <a:latin typeface="Times New Roman" panose="02020603050405020304" pitchFamily="18" charset="0"/>
                <a:cs typeface="Times New Roman" panose="02020603050405020304" pitchFamily="18" charset="0"/>
              </a:rPr>
              <a:t>foraging</a:t>
            </a:r>
            <a:r>
              <a:rPr lang="en-US" sz="2800" dirty="0">
                <a:latin typeface="Times New Roman" panose="02020603050405020304" pitchFamily="18" charset="0"/>
                <a:cs typeface="Times New Roman" panose="02020603050405020304" pitchFamily="18" charset="0"/>
              </a:rPr>
              <a:t>, they were merely </a:t>
            </a:r>
            <a:r>
              <a:rPr lang="en-US" sz="2800" dirty="0">
                <a:solidFill>
                  <a:srgbClr val="FF0000"/>
                </a:solidFill>
                <a:latin typeface="Times New Roman" panose="02020603050405020304" pitchFamily="18" charset="0"/>
                <a:cs typeface="Times New Roman" panose="02020603050405020304" pitchFamily="18" charset="0"/>
              </a:rPr>
              <a:t>gatherers</a:t>
            </a:r>
            <a:r>
              <a:rPr lang="en-US" sz="2800" dirty="0">
                <a:latin typeface="Times New Roman" panose="02020603050405020304" pitchFamily="18" charset="0"/>
                <a:cs typeface="Times New Roman" panose="02020603050405020304" pitchFamily="18" charset="0"/>
              </a:rPr>
              <a:t> of fruits and hunters of animals.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transition from foraging to farming and domestication of animals, using the combined efforts of humans plus animals led to significant changes to:</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Energy/Production systems</a:t>
            </a: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Transportation systems</a:t>
            </a: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Communication systems</a:t>
            </a:r>
          </a:p>
        </p:txBody>
      </p:sp>
    </p:spTree>
    <p:extLst>
      <p:ext uri="{BB962C8B-B14F-4D97-AF65-F5344CB8AC3E}">
        <p14:creationId xmlns:p14="http://schemas.microsoft.com/office/powerpoint/2010/main" val="390488699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2830" y="6370395"/>
            <a:ext cx="8911988"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Plate 1: Some adventures during Agrarian revolution</a:t>
            </a:r>
          </a:p>
        </p:txBody>
      </p:sp>
      <p:graphicFrame>
        <p:nvGraphicFramePr>
          <p:cNvPr id="3" name="Table 2"/>
          <p:cNvGraphicFramePr>
            <a:graphicFrameLocks noGrp="1"/>
          </p:cNvGraphicFramePr>
          <p:nvPr>
            <p:extLst>
              <p:ext uri="{D42A27DB-BD31-4B8C-83A1-F6EECF244321}">
                <p14:modId xmlns:p14="http://schemas.microsoft.com/office/powerpoint/2010/main" val="3593151818"/>
              </p:ext>
            </p:extLst>
          </p:nvPr>
        </p:nvGraphicFramePr>
        <p:xfrm>
          <a:off x="0" y="122828"/>
          <a:ext cx="9034818" cy="5404514"/>
        </p:xfrm>
        <a:graphic>
          <a:graphicData uri="http://schemas.openxmlformats.org/drawingml/2006/table">
            <a:tbl>
              <a:tblPr firstRow="1" bandRow="1">
                <a:tableStyleId>{5C22544A-7EE6-4342-B048-85BDC9FD1C3A}</a:tableStyleId>
              </a:tblPr>
              <a:tblGrid>
                <a:gridCol w="4517409">
                  <a:extLst>
                    <a:ext uri="{9D8B030D-6E8A-4147-A177-3AD203B41FA5}">
                      <a16:colId xmlns:a16="http://schemas.microsoft.com/office/drawing/2014/main" val="20000"/>
                    </a:ext>
                  </a:extLst>
                </a:gridCol>
                <a:gridCol w="4517409">
                  <a:extLst>
                    <a:ext uri="{9D8B030D-6E8A-4147-A177-3AD203B41FA5}">
                      <a16:colId xmlns:a16="http://schemas.microsoft.com/office/drawing/2014/main" val="20001"/>
                    </a:ext>
                  </a:extLst>
                </a:gridCol>
              </a:tblGrid>
              <a:tr h="270225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270225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bl>
          </a:graphicData>
        </a:graphic>
      </p:graphicFrame>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2829"/>
            <a:ext cx="4476465" cy="2688610"/>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6466" y="122827"/>
            <a:ext cx="4558352" cy="2688612"/>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811439"/>
            <a:ext cx="4476465" cy="2838734"/>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76465" y="2811437"/>
            <a:ext cx="4558353" cy="2688611"/>
          </a:xfrm>
          <a:prstGeom prst="rect">
            <a:avLst/>
          </a:prstGeom>
        </p:spPr>
      </p:pic>
    </p:spTree>
    <p:extLst>
      <p:ext uri="{BB962C8B-B14F-4D97-AF65-F5344CB8AC3E}">
        <p14:creationId xmlns:p14="http://schemas.microsoft.com/office/powerpoint/2010/main" val="43182360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endParaRPr lang="en-US" sz="2800" dirty="0">
              <a:solidFill>
                <a:srgbClr val="FF0000"/>
              </a:solidFill>
              <a:latin typeface="Times New Roman" panose="02020603050405020304" pitchFamily="18" charset="0"/>
              <a:cs typeface="Times New Roman" panose="02020603050405020304" pitchFamily="18" charset="0"/>
            </a:endParaRPr>
          </a:p>
          <a:p>
            <a:pPr algn="ctr"/>
            <a:r>
              <a:rPr lang="en-US" sz="4000" dirty="0">
                <a:solidFill>
                  <a:srgbClr val="FF0000"/>
                </a:solidFill>
                <a:latin typeface="Times New Roman" panose="02020603050405020304" pitchFamily="18" charset="0"/>
                <a:cs typeface="Times New Roman" panose="02020603050405020304" pitchFamily="18" charset="0"/>
              </a:rPr>
              <a:t>INDUSTRIAL REVOLUTIONS</a:t>
            </a:r>
          </a:p>
          <a:p>
            <a:pPr algn="ctr"/>
            <a:endParaRPr lang="en-US" sz="40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First Industrial Revolution</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This happened in the mid-18</a:t>
            </a:r>
            <a:r>
              <a:rPr lang="en-US" sz="2800" baseline="30000" dirty="0">
                <a:latin typeface="Times New Roman" panose="02020603050405020304" pitchFamily="18" charset="0"/>
                <a:cs typeface="Times New Roman" panose="02020603050405020304" pitchFamily="18" charset="0"/>
              </a:rPr>
              <a:t>th</a:t>
            </a:r>
            <a:r>
              <a:rPr lang="en-US" sz="2800" dirty="0">
                <a:latin typeface="Times New Roman" panose="02020603050405020304" pitchFamily="18" charset="0"/>
                <a:cs typeface="Times New Roman" panose="02020603050405020304" pitchFamily="18" charset="0"/>
              </a:rPr>
              <a:t> to mid-19</a:t>
            </a:r>
            <a:r>
              <a:rPr lang="en-US" sz="2800" baseline="30000" dirty="0">
                <a:latin typeface="Times New Roman" panose="02020603050405020304" pitchFamily="18" charset="0"/>
                <a:cs typeface="Times New Roman" panose="02020603050405020304" pitchFamily="18" charset="0"/>
              </a:rPr>
              <a:t>th</a:t>
            </a:r>
            <a:r>
              <a:rPr lang="en-US" sz="2800" dirty="0">
                <a:latin typeface="Times New Roman" panose="02020603050405020304" pitchFamily="18" charset="0"/>
                <a:cs typeface="Times New Roman" panose="02020603050405020304" pitchFamily="18" charset="0"/>
              </a:rPr>
              <a:t> Century. Precisely 1760 – 1840 in Britain. It marked transition from muscle/animal power to mechanical power. The transition to use of machines led to the birth of the factories. </a:t>
            </a:r>
          </a:p>
          <a:p>
            <a:endParaRPr lang="en-US" dirty="0"/>
          </a:p>
          <a:p>
            <a:pPr algn="just"/>
            <a:r>
              <a:rPr lang="en-US" sz="2800" dirty="0">
                <a:solidFill>
                  <a:srgbClr val="FF0000"/>
                </a:solidFill>
                <a:latin typeface="Times New Roman" panose="02020603050405020304" pitchFamily="18" charset="0"/>
                <a:cs typeface="Times New Roman" panose="02020603050405020304" pitchFamily="18" charset="0"/>
              </a:rPr>
              <a:t>This First Industrial Revolution (1IR) also led to changes in </a:t>
            </a: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Energy/production systems,</a:t>
            </a: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transportation systems, and</a:t>
            </a: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communication systems.</a:t>
            </a: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414188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2830" y="6370395"/>
            <a:ext cx="8911988"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Plate 1: Some Impacts of First Industrial Revolution</a:t>
            </a:r>
          </a:p>
        </p:txBody>
      </p:sp>
      <p:graphicFrame>
        <p:nvGraphicFramePr>
          <p:cNvPr id="3" name="Table 2"/>
          <p:cNvGraphicFramePr>
            <a:graphicFrameLocks noGrp="1"/>
          </p:cNvGraphicFramePr>
          <p:nvPr>
            <p:extLst>
              <p:ext uri="{D42A27DB-BD31-4B8C-83A1-F6EECF244321}">
                <p14:modId xmlns:p14="http://schemas.microsoft.com/office/powerpoint/2010/main" val="1319355224"/>
              </p:ext>
            </p:extLst>
          </p:nvPr>
        </p:nvGraphicFramePr>
        <p:xfrm>
          <a:off x="0" y="122828"/>
          <a:ext cx="9034818" cy="5404514"/>
        </p:xfrm>
        <a:graphic>
          <a:graphicData uri="http://schemas.openxmlformats.org/drawingml/2006/table">
            <a:tbl>
              <a:tblPr firstRow="1" bandRow="1">
                <a:tableStyleId>{5C22544A-7EE6-4342-B048-85BDC9FD1C3A}</a:tableStyleId>
              </a:tblPr>
              <a:tblGrid>
                <a:gridCol w="4517409">
                  <a:extLst>
                    <a:ext uri="{9D8B030D-6E8A-4147-A177-3AD203B41FA5}">
                      <a16:colId xmlns:a16="http://schemas.microsoft.com/office/drawing/2014/main" val="20000"/>
                    </a:ext>
                  </a:extLst>
                </a:gridCol>
                <a:gridCol w="4517409">
                  <a:extLst>
                    <a:ext uri="{9D8B030D-6E8A-4147-A177-3AD203B41FA5}">
                      <a16:colId xmlns:a16="http://schemas.microsoft.com/office/drawing/2014/main" val="20001"/>
                    </a:ext>
                  </a:extLst>
                </a:gridCol>
              </a:tblGrid>
              <a:tr h="270225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270225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bl>
          </a:graphicData>
        </a:graphic>
      </p:graphicFrame>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22828"/>
            <a:ext cx="4476466" cy="2674963"/>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6468" y="122828"/>
            <a:ext cx="4558350" cy="2674963"/>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2797791"/>
            <a:ext cx="4476468" cy="2729551"/>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76467" y="2797791"/>
            <a:ext cx="4558351" cy="2674963"/>
          </a:xfrm>
          <a:prstGeom prst="rect">
            <a:avLst/>
          </a:prstGeom>
        </p:spPr>
      </p:pic>
    </p:spTree>
    <p:extLst>
      <p:ext uri="{BB962C8B-B14F-4D97-AF65-F5344CB8AC3E}">
        <p14:creationId xmlns:p14="http://schemas.microsoft.com/office/powerpoint/2010/main" val="359918511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r>
              <a:rPr lang="en-US" sz="4000" dirty="0">
                <a:solidFill>
                  <a:srgbClr val="FF0000"/>
                </a:solidFill>
                <a:latin typeface="Times New Roman" panose="02020603050405020304" pitchFamily="18" charset="0"/>
                <a:cs typeface="Times New Roman" panose="02020603050405020304" pitchFamily="18" charset="0"/>
              </a:rPr>
              <a:t>INDUSTRIAL REVOLUTIONS</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Second Industrial Revolution (2IR)</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It occurred late in the 19</a:t>
            </a:r>
            <a:r>
              <a:rPr lang="en-US" sz="2800" baseline="30000" dirty="0">
                <a:latin typeface="Times New Roman" panose="02020603050405020304" pitchFamily="18" charset="0"/>
                <a:cs typeface="Times New Roman" panose="02020603050405020304" pitchFamily="18" charset="0"/>
              </a:rPr>
              <a:t>th</a:t>
            </a:r>
            <a:r>
              <a:rPr lang="en-US" sz="2800" dirty="0">
                <a:latin typeface="Times New Roman" panose="02020603050405020304" pitchFamily="18" charset="0"/>
                <a:cs typeface="Times New Roman" panose="02020603050405020304" pitchFamily="18" charset="0"/>
              </a:rPr>
              <a:t> to early 20</a:t>
            </a:r>
            <a:r>
              <a:rPr lang="en-US" sz="2800" baseline="30000" dirty="0">
                <a:latin typeface="Times New Roman" panose="02020603050405020304" pitchFamily="18" charset="0"/>
                <a:cs typeface="Times New Roman" panose="02020603050405020304" pitchFamily="18" charset="0"/>
              </a:rPr>
              <a:t>th</a:t>
            </a:r>
            <a:r>
              <a:rPr lang="en-US" sz="2800" dirty="0">
                <a:latin typeface="Times New Roman" panose="02020603050405020304" pitchFamily="18" charset="0"/>
                <a:cs typeface="Times New Roman" panose="02020603050405020304" pitchFamily="18" charset="0"/>
              </a:rPr>
              <a:t> Century. Precisely 1860 – 1930. It was heralded by the:</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advent of electricity, that is, electric power,</a:t>
            </a: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electrically driven production and assembly lines.</a:t>
            </a:r>
          </a:p>
          <a:p>
            <a:pPr algn="just"/>
            <a:r>
              <a:rPr lang="en-US" sz="2800" dirty="0">
                <a:latin typeface="Times New Roman" panose="02020603050405020304" pitchFamily="18" charset="0"/>
                <a:cs typeface="Times New Roman" panose="02020603050405020304" pitchFamily="18" charset="0"/>
              </a:rPr>
              <a:t> </a:t>
            </a:r>
          </a:p>
          <a:p>
            <a:pPr algn="just"/>
            <a:r>
              <a:rPr lang="en-US" sz="2800" dirty="0">
                <a:solidFill>
                  <a:srgbClr val="FF0000"/>
                </a:solidFill>
                <a:latin typeface="Times New Roman" panose="02020603050405020304" pitchFamily="18" charset="0"/>
                <a:cs typeface="Times New Roman" panose="02020603050405020304" pitchFamily="18" charset="0"/>
              </a:rPr>
              <a:t>This massive leap in power generation gave birth to mass production or manufacturing economy. </a:t>
            </a:r>
          </a:p>
          <a:p>
            <a:pPr algn="just"/>
            <a:r>
              <a:rPr lang="en-US" sz="2800" dirty="0">
                <a:solidFill>
                  <a:srgbClr val="FF0000"/>
                </a:solidFill>
                <a:latin typeface="Times New Roman" panose="02020603050405020304" pitchFamily="18" charset="0"/>
                <a:cs typeface="Times New Roman" panose="02020603050405020304" pitchFamily="18" charset="0"/>
              </a:rPr>
              <a:t>The 2IR also led to changes in:</a:t>
            </a: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Energy/production systems;</a:t>
            </a: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Transportation systems, and</a:t>
            </a: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Communication systems.</a:t>
            </a: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716101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2830" y="6370395"/>
            <a:ext cx="8911988"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Plate 1: Some Impacts of Second Industrial Revolution</a:t>
            </a:r>
          </a:p>
        </p:txBody>
      </p:sp>
      <p:graphicFrame>
        <p:nvGraphicFramePr>
          <p:cNvPr id="3" name="Table 2"/>
          <p:cNvGraphicFramePr>
            <a:graphicFrameLocks noGrp="1"/>
          </p:cNvGraphicFramePr>
          <p:nvPr>
            <p:extLst>
              <p:ext uri="{D42A27DB-BD31-4B8C-83A1-F6EECF244321}">
                <p14:modId xmlns:p14="http://schemas.microsoft.com/office/powerpoint/2010/main" val="3310153262"/>
              </p:ext>
            </p:extLst>
          </p:nvPr>
        </p:nvGraphicFramePr>
        <p:xfrm>
          <a:off x="0" y="122828"/>
          <a:ext cx="9034818" cy="5404514"/>
        </p:xfrm>
        <a:graphic>
          <a:graphicData uri="http://schemas.openxmlformats.org/drawingml/2006/table">
            <a:tbl>
              <a:tblPr firstRow="1" bandRow="1">
                <a:tableStyleId>{5C22544A-7EE6-4342-B048-85BDC9FD1C3A}</a:tableStyleId>
              </a:tblPr>
              <a:tblGrid>
                <a:gridCol w="4517409">
                  <a:extLst>
                    <a:ext uri="{9D8B030D-6E8A-4147-A177-3AD203B41FA5}">
                      <a16:colId xmlns:a16="http://schemas.microsoft.com/office/drawing/2014/main" val="20000"/>
                    </a:ext>
                  </a:extLst>
                </a:gridCol>
                <a:gridCol w="4517409">
                  <a:extLst>
                    <a:ext uri="{9D8B030D-6E8A-4147-A177-3AD203B41FA5}">
                      <a16:colId xmlns:a16="http://schemas.microsoft.com/office/drawing/2014/main" val="20001"/>
                    </a:ext>
                  </a:extLst>
                </a:gridCol>
              </a:tblGrid>
              <a:tr h="270225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270225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bl>
          </a:graphicData>
        </a:graphic>
      </p:graphicFrame>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2828"/>
            <a:ext cx="4517409" cy="2661315"/>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7409" y="122828"/>
            <a:ext cx="4517409" cy="2661315"/>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2784143"/>
            <a:ext cx="4517408" cy="2743199"/>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17410" y="2784143"/>
            <a:ext cx="4517408" cy="2661315"/>
          </a:xfrm>
          <a:prstGeom prst="rect">
            <a:avLst/>
          </a:prstGeom>
        </p:spPr>
      </p:pic>
    </p:spTree>
    <p:extLst>
      <p:ext uri="{BB962C8B-B14F-4D97-AF65-F5344CB8AC3E}">
        <p14:creationId xmlns:p14="http://schemas.microsoft.com/office/powerpoint/2010/main" val="29958364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r>
              <a:rPr lang="en-US" sz="4000" dirty="0">
                <a:solidFill>
                  <a:srgbClr val="FF0000"/>
                </a:solidFill>
                <a:latin typeface="Times New Roman" panose="02020603050405020304" pitchFamily="18" charset="0"/>
                <a:cs typeface="Times New Roman" panose="02020603050405020304" pitchFamily="18" charset="0"/>
              </a:rPr>
              <a:t>INDUSTRIAL REVOLUTIONS</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Third Industrial Revolution (3IR)</a:t>
            </a:r>
          </a:p>
          <a:p>
            <a:pPr algn="just"/>
            <a:endParaRPr lang="en-US" sz="2800" b="1" u="sng"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It began in the 1960s. This was/is the </a:t>
            </a:r>
            <a:r>
              <a:rPr lang="en-US" sz="2800" dirty="0">
                <a:solidFill>
                  <a:srgbClr val="FF0000"/>
                </a:solidFill>
                <a:latin typeface="Times New Roman" panose="02020603050405020304" pitchFamily="18" charset="0"/>
                <a:cs typeface="Times New Roman" panose="02020603050405020304" pitchFamily="18" charset="0"/>
              </a:rPr>
              <a:t>COMPUTER</a:t>
            </a:r>
            <a:r>
              <a:rPr lang="en-US" sz="2800" dirty="0">
                <a:latin typeface="Times New Roman" panose="02020603050405020304" pitchFamily="18" charset="0"/>
                <a:cs typeface="Times New Roman" panose="02020603050405020304" pitchFamily="18" charset="0"/>
              </a:rPr>
              <a:t> and </a:t>
            </a:r>
            <a:r>
              <a:rPr lang="en-US" sz="2800" dirty="0">
                <a:solidFill>
                  <a:srgbClr val="FF0000"/>
                </a:solidFill>
                <a:latin typeface="Times New Roman" panose="02020603050405020304" pitchFamily="18" charset="0"/>
                <a:cs typeface="Times New Roman" panose="02020603050405020304" pitchFamily="18" charset="0"/>
              </a:rPr>
              <a:t>INFORMATION</a:t>
            </a:r>
            <a:r>
              <a:rPr lang="en-US" sz="2800" dirty="0">
                <a:latin typeface="Times New Roman" panose="02020603050405020304" pitchFamily="18" charset="0"/>
                <a:cs typeface="Times New Roman" panose="02020603050405020304" pitchFamily="18" charset="0"/>
              </a:rPr>
              <a:t> age. </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a:solidFill>
                  <a:srgbClr val="00B050"/>
                </a:solidFill>
                <a:latin typeface="Times New Roman" panose="02020603050405020304" pitchFamily="18" charset="0"/>
                <a:cs typeface="Times New Roman" panose="02020603050405020304" pitchFamily="18" charset="0"/>
              </a:rPr>
              <a:t>It was/is catalyzed by Development of semiconductors</a:t>
            </a:r>
          </a:p>
          <a:p>
            <a:pPr marL="457200" indent="-457200" algn="just">
              <a:buFont typeface="Wingdings" panose="05000000000000000000" pitchFamily="2" charset="2"/>
              <a:buChar char="Ø"/>
            </a:pPr>
            <a:r>
              <a:rPr lang="en-US" sz="2800" dirty="0">
                <a:solidFill>
                  <a:srgbClr val="00B050"/>
                </a:solidFill>
                <a:latin typeface="Times New Roman" panose="02020603050405020304" pitchFamily="18" charset="0"/>
                <a:cs typeface="Times New Roman" panose="02020603050405020304" pitchFamily="18" charset="0"/>
              </a:rPr>
              <a:t>Mainframe computing of the 1960s</a:t>
            </a:r>
          </a:p>
          <a:p>
            <a:pPr marL="457200" indent="-457200" algn="just">
              <a:buFont typeface="Wingdings" panose="05000000000000000000" pitchFamily="2" charset="2"/>
              <a:buChar char="Ø"/>
            </a:pPr>
            <a:r>
              <a:rPr lang="en-US" sz="2800" dirty="0">
                <a:solidFill>
                  <a:srgbClr val="00B050"/>
                </a:solidFill>
                <a:latin typeface="Times New Roman" panose="02020603050405020304" pitchFamily="18" charset="0"/>
                <a:cs typeface="Times New Roman" panose="02020603050405020304" pitchFamily="18" charset="0"/>
              </a:rPr>
              <a:t>Personal computing in the 1970s + 1980s</a:t>
            </a:r>
          </a:p>
          <a:p>
            <a:pPr marL="457200" indent="-457200" algn="just">
              <a:buFont typeface="Wingdings" panose="05000000000000000000" pitchFamily="2" charset="2"/>
              <a:buChar char="Ø"/>
            </a:pPr>
            <a:r>
              <a:rPr lang="en-US" sz="2800" dirty="0">
                <a:solidFill>
                  <a:srgbClr val="00B050"/>
                </a:solidFill>
                <a:latin typeface="Times New Roman" panose="02020603050405020304" pitchFamily="18" charset="0"/>
                <a:cs typeface="Times New Roman" panose="02020603050405020304" pitchFamily="18" charset="0"/>
              </a:rPr>
              <a:t>Internet of the 1990s</a:t>
            </a:r>
          </a:p>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358544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r>
              <a:rPr lang="en-US" sz="4000" dirty="0">
                <a:solidFill>
                  <a:srgbClr val="FF0000"/>
                </a:solidFill>
                <a:latin typeface="Times New Roman" panose="02020603050405020304" pitchFamily="18" charset="0"/>
                <a:cs typeface="Times New Roman" panose="02020603050405020304" pitchFamily="18" charset="0"/>
              </a:rPr>
              <a:t>INDUSTRIAL REVOLUTIONS</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Third Industrial Revolution (3IR)</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Its main driver is the convergence of the following technologies:</a:t>
            </a:r>
          </a:p>
          <a:p>
            <a:pPr algn="just"/>
            <a:endParaRPr lang="en-US" sz="2800" dirty="0">
              <a:latin typeface="Times New Roman" panose="02020603050405020304" pitchFamily="18" charset="0"/>
              <a:cs typeface="Times New Roman" panose="02020603050405020304" pitchFamily="18" charset="0"/>
            </a:endParaRPr>
          </a:p>
          <a:p>
            <a:pPr marL="457200" lvl="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Renewable energy – which could lead to energy internet;</a:t>
            </a:r>
          </a:p>
          <a:p>
            <a:pPr marL="457200" lvl="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ICT – Clever Software + Internet</a:t>
            </a:r>
          </a:p>
          <a:p>
            <a:pPr marL="457200" lvl="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3D- Printing</a:t>
            </a:r>
          </a:p>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Actually, the myriad of converging technologies include– clever software, novel materials, more dexterous robots, new processes, and 3D –printing. These are the wonders of the 3IR.</a:t>
            </a:r>
          </a:p>
          <a:p>
            <a:pPr algn="just"/>
            <a:r>
              <a:rPr lang="en-US" sz="2800" dirty="0">
                <a:latin typeface="Times New Roman" panose="02020603050405020304" pitchFamily="18" charset="0"/>
                <a:cs typeface="Times New Roman" panose="02020603050405020304" pitchFamily="18" charset="0"/>
              </a:rPr>
              <a:t> </a:t>
            </a: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96705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2830" y="6370395"/>
            <a:ext cx="8911988"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Plate 1: Some Impacts of Third Industrial Revolution</a:t>
            </a:r>
          </a:p>
        </p:txBody>
      </p:sp>
      <p:graphicFrame>
        <p:nvGraphicFramePr>
          <p:cNvPr id="3" name="Table 2"/>
          <p:cNvGraphicFramePr>
            <a:graphicFrameLocks noGrp="1"/>
          </p:cNvGraphicFramePr>
          <p:nvPr>
            <p:extLst>
              <p:ext uri="{D42A27DB-BD31-4B8C-83A1-F6EECF244321}">
                <p14:modId xmlns:p14="http://schemas.microsoft.com/office/powerpoint/2010/main" val="1895350487"/>
              </p:ext>
            </p:extLst>
          </p:nvPr>
        </p:nvGraphicFramePr>
        <p:xfrm>
          <a:off x="0" y="122828"/>
          <a:ext cx="9034818" cy="5404514"/>
        </p:xfrm>
        <a:graphic>
          <a:graphicData uri="http://schemas.openxmlformats.org/drawingml/2006/table">
            <a:tbl>
              <a:tblPr firstRow="1" bandRow="1">
                <a:tableStyleId>{5C22544A-7EE6-4342-B048-85BDC9FD1C3A}</a:tableStyleId>
              </a:tblPr>
              <a:tblGrid>
                <a:gridCol w="4517409">
                  <a:extLst>
                    <a:ext uri="{9D8B030D-6E8A-4147-A177-3AD203B41FA5}">
                      <a16:colId xmlns:a16="http://schemas.microsoft.com/office/drawing/2014/main" val="20000"/>
                    </a:ext>
                  </a:extLst>
                </a:gridCol>
                <a:gridCol w="4517409">
                  <a:extLst>
                    <a:ext uri="{9D8B030D-6E8A-4147-A177-3AD203B41FA5}">
                      <a16:colId xmlns:a16="http://schemas.microsoft.com/office/drawing/2014/main" val="20001"/>
                    </a:ext>
                  </a:extLst>
                </a:gridCol>
              </a:tblGrid>
              <a:tr h="270225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270225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bl>
          </a:graphicData>
        </a:graphic>
      </p:graphicFrame>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22828"/>
            <a:ext cx="4490113" cy="2661315"/>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90113" y="122828"/>
            <a:ext cx="4544705" cy="2661315"/>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2784143"/>
            <a:ext cx="4490113" cy="2743199"/>
          </a:xfrm>
          <a:prstGeom prst="rect">
            <a:avLst/>
          </a:prstGeom>
        </p:spPr>
      </p:pic>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90114" y="2784143"/>
            <a:ext cx="4544704" cy="2702257"/>
          </a:xfrm>
          <a:prstGeom prst="rect">
            <a:avLst/>
          </a:prstGeom>
        </p:spPr>
      </p:pic>
    </p:spTree>
    <p:extLst>
      <p:ext uri="{BB962C8B-B14F-4D97-AF65-F5344CB8AC3E}">
        <p14:creationId xmlns:p14="http://schemas.microsoft.com/office/powerpoint/2010/main" val="140157569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r>
              <a:rPr lang="en-US" sz="4000" dirty="0">
                <a:solidFill>
                  <a:srgbClr val="FF0000"/>
                </a:solidFill>
                <a:latin typeface="Times New Roman" panose="02020603050405020304" pitchFamily="18" charset="0"/>
                <a:cs typeface="Times New Roman" panose="02020603050405020304" pitchFamily="18" charset="0"/>
              </a:rPr>
              <a:t>INDUSTRIAL REVOLUTIONS</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Fourth Industrial Revolution (4IR)</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It began at the turn of the century, that is, about 2000. It is actually an offshoot of the 3IR, because it builds on computer and information revolutions.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It is the fusion of different technologies and their interaction across the physical, digital and biological domains that make the 4IR fundamentally different from previous IRs.</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solidFill>
                  <a:srgbClr val="00B050"/>
                </a:solidFill>
                <a:latin typeface="Times New Roman" panose="02020603050405020304" pitchFamily="18" charset="0"/>
                <a:cs typeface="Times New Roman" panose="02020603050405020304" pitchFamily="18" charset="0"/>
              </a:rPr>
              <a:t>With this glaring evidences, some academicians and thinkers do not think it is different from the 3IR.</a:t>
            </a:r>
            <a:endParaRPr lang="en-US" sz="2800" dirty="0">
              <a:latin typeface="Times New Roman" panose="02020603050405020304" pitchFamily="18" charset="0"/>
              <a:cs typeface="Times New Roman" panose="02020603050405020304" pitchFamily="18" charset="0"/>
            </a:endParaRPr>
          </a:p>
          <a:p>
            <a:pPr algn="just"/>
            <a:endParaRPr lang="en-US" sz="28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037044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r>
              <a:rPr lang="en-US" sz="4000" dirty="0">
                <a:solidFill>
                  <a:srgbClr val="FF0000"/>
                </a:solidFill>
                <a:latin typeface="Times New Roman" panose="02020603050405020304" pitchFamily="18" charset="0"/>
                <a:cs typeface="Times New Roman" panose="02020603050405020304" pitchFamily="18" charset="0"/>
              </a:rPr>
              <a:t>INDUSTRIAL REVOLUTIONS</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Fourth Industrial Revolution (4IR)</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solidFill>
                  <a:srgbClr val="0070C0"/>
                </a:solidFill>
                <a:latin typeface="Times New Roman" panose="02020603050405020304" pitchFamily="18" charset="0"/>
                <a:cs typeface="Times New Roman" panose="02020603050405020304" pitchFamily="18" charset="0"/>
              </a:rPr>
              <a:t>The distinguishing characteristics of the 4IR are</a:t>
            </a:r>
          </a:p>
          <a:p>
            <a:pPr lvl="0" algn="just"/>
            <a:endParaRPr lang="en-US" sz="2800" dirty="0">
              <a:latin typeface="Times New Roman" panose="02020603050405020304" pitchFamily="18" charset="0"/>
              <a:cs typeface="Times New Roman" panose="02020603050405020304" pitchFamily="18" charset="0"/>
            </a:endParaRPr>
          </a:p>
          <a:p>
            <a:pPr marL="457200" lvl="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Much more ubiquitous and mobile internet</a:t>
            </a:r>
          </a:p>
          <a:p>
            <a:pPr marL="457200" lvl="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Smaller and more powerful sensors that have become cheaper</a:t>
            </a:r>
          </a:p>
          <a:p>
            <a:pPr marL="457200" lvl="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Artificial Intelligence (AI) and Machine Learning</a:t>
            </a:r>
          </a:p>
          <a:p>
            <a:pPr marL="457200" lvl="0" indent="-457200" algn="just">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By enabling “SMART FACTORIES” the 4IR creates a world in which virtual and physical systems of manufacturing cooperate with each other in a flexible way. </a:t>
            </a:r>
          </a:p>
        </p:txBody>
      </p:sp>
    </p:spTree>
    <p:extLst>
      <p:ext uri="{BB962C8B-B14F-4D97-AF65-F5344CB8AC3E}">
        <p14:creationId xmlns:p14="http://schemas.microsoft.com/office/powerpoint/2010/main" val="218958259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r>
              <a:rPr lang="en-US" sz="4000" dirty="0">
                <a:solidFill>
                  <a:srgbClr val="FF0000"/>
                </a:solidFill>
                <a:latin typeface="Times New Roman" panose="02020603050405020304" pitchFamily="18" charset="0"/>
                <a:cs typeface="Times New Roman" panose="02020603050405020304" pitchFamily="18" charset="0"/>
              </a:rPr>
              <a:t>INDUSTRIAL REVOLUTIONS</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Fourth Industrial Revolution (4IR)</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impacts of the 4IR are HISTORIC, PROFOUND, DISRUPTIVE and MULTIFACETED, resulting in disruption of incumbents and reshaping of production, consumption, transportation and delivery systems.</a:t>
            </a:r>
          </a:p>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This PARADIGM SHIFT is fundamentally changing the way we live, work, and relate to one another.</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13174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2830" y="6370395"/>
            <a:ext cx="8911988"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Plate 1: Some Impacts of Fourth Industrial Revolution</a:t>
            </a:r>
          </a:p>
        </p:txBody>
      </p:sp>
      <p:graphicFrame>
        <p:nvGraphicFramePr>
          <p:cNvPr id="3" name="Table 2"/>
          <p:cNvGraphicFramePr>
            <a:graphicFrameLocks noGrp="1"/>
          </p:cNvGraphicFramePr>
          <p:nvPr>
            <p:extLst>
              <p:ext uri="{D42A27DB-BD31-4B8C-83A1-F6EECF244321}">
                <p14:modId xmlns:p14="http://schemas.microsoft.com/office/powerpoint/2010/main" val="2958724071"/>
              </p:ext>
            </p:extLst>
          </p:nvPr>
        </p:nvGraphicFramePr>
        <p:xfrm>
          <a:off x="0" y="122828"/>
          <a:ext cx="9034818" cy="5404514"/>
        </p:xfrm>
        <a:graphic>
          <a:graphicData uri="http://schemas.openxmlformats.org/drawingml/2006/table">
            <a:tbl>
              <a:tblPr firstRow="1" bandRow="1">
                <a:tableStyleId>{5C22544A-7EE6-4342-B048-85BDC9FD1C3A}</a:tableStyleId>
              </a:tblPr>
              <a:tblGrid>
                <a:gridCol w="4517409">
                  <a:extLst>
                    <a:ext uri="{9D8B030D-6E8A-4147-A177-3AD203B41FA5}">
                      <a16:colId xmlns:a16="http://schemas.microsoft.com/office/drawing/2014/main" val="20000"/>
                    </a:ext>
                  </a:extLst>
                </a:gridCol>
                <a:gridCol w="4517409">
                  <a:extLst>
                    <a:ext uri="{9D8B030D-6E8A-4147-A177-3AD203B41FA5}">
                      <a16:colId xmlns:a16="http://schemas.microsoft.com/office/drawing/2014/main" val="20001"/>
                    </a:ext>
                  </a:extLst>
                </a:gridCol>
              </a:tblGrid>
              <a:tr h="270225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r h="270225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bl>
          </a:graphicData>
        </a:graphic>
      </p:graphicFrame>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22827"/>
            <a:ext cx="4490112" cy="2702259"/>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0113" y="122826"/>
            <a:ext cx="4544705" cy="2702260"/>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825086"/>
            <a:ext cx="4490113" cy="2702256"/>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0114" y="2825086"/>
            <a:ext cx="4544704" cy="2702256"/>
          </a:xfrm>
          <a:prstGeom prst="rect">
            <a:avLst/>
          </a:prstGeom>
        </p:spPr>
      </p:pic>
    </p:spTree>
    <p:extLst>
      <p:ext uri="{BB962C8B-B14F-4D97-AF65-F5344CB8AC3E}">
        <p14:creationId xmlns:p14="http://schemas.microsoft.com/office/powerpoint/2010/main" val="283050179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2800" dirty="0">
                <a:solidFill>
                  <a:srgbClr val="FF0000"/>
                </a:solidFill>
                <a:latin typeface="Times New Roman" panose="02020603050405020304" pitchFamily="18" charset="0"/>
                <a:cs typeface="Times New Roman" panose="02020603050405020304" pitchFamily="18" charset="0"/>
              </a:rPr>
              <a:t>Fourth Industrial Revolution (4IR)</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clusters of 4IR are:</a:t>
            </a:r>
          </a:p>
          <a:p>
            <a:pPr algn="just"/>
            <a:r>
              <a:rPr lang="en-US" sz="2800" dirty="0">
                <a:latin typeface="Times New Roman" panose="02020603050405020304" pitchFamily="18" charset="0"/>
                <a:cs typeface="Times New Roman" panose="02020603050405020304" pitchFamily="18" charset="0"/>
              </a:rPr>
              <a:t> </a:t>
            </a:r>
          </a:p>
          <a:p>
            <a:pPr algn="just"/>
            <a:r>
              <a:rPr lang="en-US" sz="2800" dirty="0">
                <a:latin typeface="Times New Roman" panose="02020603050405020304" pitchFamily="18" charset="0"/>
                <a:cs typeface="Times New Roman" panose="02020603050405020304" pitchFamily="18" charset="0"/>
              </a:rPr>
              <a:t>Physical</a:t>
            </a:r>
          </a:p>
          <a:p>
            <a:pPr algn="just"/>
            <a:r>
              <a:rPr lang="en-US" sz="2800" dirty="0">
                <a:latin typeface="Times New Roman" panose="02020603050405020304" pitchFamily="18" charset="0"/>
                <a:cs typeface="Times New Roman" panose="02020603050405020304" pitchFamily="18" charset="0"/>
              </a:rPr>
              <a:t> </a:t>
            </a:r>
          </a:p>
          <a:p>
            <a:pPr algn="just"/>
            <a:r>
              <a:rPr lang="en-US" sz="2800" dirty="0">
                <a:latin typeface="Times New Roman" panose="02020603050405020304" pitchFamily="18" charset="0"/>
                <a:cs typeface="Times New Roman" panose="02020603050405020304" pitchFamily="18" charset="0"/>
              </a:rPr>
              <a:t>Digital and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Biological.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All three are deeply interrelated and the various technologies benefit from each other based on the discoveries and progress each makes.</a:t>
            </a:r>
          </a:p>
        </p:txBody>
      </p:sp>
    </p:spTree>
    <p:extLst>
      <p:ext uri="{BB962C8B-B14F-4D97-AF65-F5344CB8AC3E}">
        <p14:creationId xmlns:p14="http://schemas.microsoft.com/office/powerpoint/2010/main" val="199205862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2800" dirty="0">
                <a:solidFill>
                  <a:srgbClr val="FF0000"/>
                </a:solidFill>
                <a:latin typeface="Times New Roman" panose="02020603050405020304" pitchFamily="18" charset="0"/>
                <a:cs typeface="Times New Roman" panose="02020603050405020304" pitchFamily="18" charset="0"/>
              </a:rPr>
              <a:t>Physical </a:t>
            </a:r>
            <a:r>
              <a:rPr lang="en-US" sz="2800" dirty="0" err="1">
                <a:solidFill>
                  <a:srgbClr val="FF0000"/>
                </a:solidFill>
                <a:latin typeface="Times New Roman" panose="02020603050405020304" pitchFamily="18" charset="0"/>
                <a:cs typeface="Times New Roman" panose="02020603050405020304" pitchFamily="18" charset="0"/>
              </a:rPr>
              <a:t>MegaTrend</a:t>
            </a:r>
            <a:endParaRPr lang="en-US" sz="2800" dirty="0">
              <a:solidFill>
                <a:srgbClr val="FF0000"/>
              </a:solidFill>
              <a:latin typeface="Times New Roman" panose="02020603050405020304" pitchFamily="18" charset="0"/>
              <a:cs typeface="Times New Roman" panose="02020603050405020304" pitchFamily="18" charset="0"/>
            </a:endParaRPr>
          </a:p>
          <a:p>
            <a:pPr lvl="0" algn="just"/>
            <a:endParaRPr lang="en-US" sz="2800" dirty="0">
              <a:latin typeface="Times New Roman" panose="02020603050405020304" pitchFamily="18" charset="0"/>
              <a:cs typeface="Times New Roman" panose="02020603050405020304" pitchFamily="18" charset="0"/>
            </a:endParaRPr>
          </a:p>
          <a:p>
            <a:pPr marL="457200" lvl="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Autonomous vehicles</a:t>
            </a:r>
            <a:r>
              <a:rPr lang="en-US" sz="2800" dirty="0">
                <a:latin typeface="Times New Roman" panose="02020603050405020304" pitchFamily="18" charset="0"/>
                <a:cs typeface="Times New Roman" panose="02020603050405020304" pitchFamily="18" charset="0"/>
              </a:rPr>
              <a:t> – This includes driverless cars, trucks, drones, aircrafts, boats and submersibles.</a:t>
            </a:r>
          </a:p>
          <a:p>
            <a:pPr marL="457200" lvl="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3D Printing</a:t>
            </a:r>
            <a:r>
              <a:rPr lang="en-US" sz="2800" dirty="0">
                <a:latin typeface="Times New Roman" panose="02020603050405020304" pitchFamily="18" charset="0"/>
                <a:cs typeface="Times New Roman" panose="02020603050405020304" pitchFamily="18" charset="0"/>
              </a:rPr>
              <a:t>: 3D Printers are capable of creating a physical object by printing layer upon layer from a digital 3D drawing or model.</a:t>
            </a:r>
          </a:p>
          <a:p>
            <a:pPr marL="457200" lvl="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Advanced Robotics:</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Robots were previously employed for tightly controlled tasks. But now, advanced robots are now used across all sectors ranging from military, to nursing, and agriculture and in fact all sectors of the economy.</a:t>
            </a:r>
          </a:p>
          <a:p>
            <a:pPr lvl="0" algn="just"/>
            <a:endParaRPr lang="en-US" sz="2800" dirty="0">
              <a:latin typeface="Times New Roman" panose="02020603050405020304" pitchFamily="18" charset="0"/>
              <a:cs typeface="Times New Roman" panose="02020603050405020304" pitchFamily="18" charset="0"/>
            </a:endParaRPr>
          </a:p>
          <a:p>
            <a:pPr lvl="0" algn="just"/>
            <a:r>
              <a:rPr lang="en-US" sz="2800" dirty="0">
                <a:solidFill>
                  <a:srgbClr val="FF0000"/>
                </a:solidFill>
                <a:latin typeface="Times New Roman" panose="02020603050405020304" pitchFamily="18" charset="0"/>
                <a:cs typeface="Times New Roman" panose="02020603050405020304" pitchFamily="18" charset="0"/>
              </a:rPr>
              <a:t>Modern Robots are now accessing information remotely and act autonomously instead of being programmed.</a:t>
            </a:r>
          </a:p>
        </p:txBody>
      </p:sp>
    </p:spTree>
    <p:extLst>
      <p:ext uri="{BB962C8B-B14F-4D97-AF65-F5344CB8AC3E}">
        <p14:creationId xmlns:p14="http://schemas.microsoft.com/office/powerpoint/2010/main" val="111587121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2800" dirty="0">
                <a:solidFill>
                  <a:srgbClr val="FF0000"/>
                </a:solidFill>
                <a:latin typeface="Times New Roman" panose="02020603050405020304" pitchFamily="18" charset="0"/>
                <a:cs typeface="Times New Roman" panose="02020603050405020304" pitchFamily="18" charset="0"/>
              </a:rPr>
              <a:t>Fourth Industrial Revolution (4IR)</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Physical </a:t>
            </a:r>
            <a:r>
              <a:rPr lang="en-US" sz="2800" dirty="0" err="1">
                <a:latin typeface="Times New Roman" panose="02020603050405020304" pitchFamily="18" charset="0"/>
                <a:cs typeface="Times New Roman" panose="02020603050405020304" pitchFamily="18" charset="0"/>
              </a:rPr>
              <a:t>MegaTrend</a:t>
            </a:r>
            <a:endParaRPr lang="en-US" sz="2800" dirty="0">
              <a:latin typeface="Times New Roman" panose="02020603050405020304" pitchFamily="18" charset="0"/>
              <a:cs typeface="Times New Roman" panose="02020603050405020304" pitchFamily="18" charset="0"/>
            </a:endParaRPr>
          </a:p>
          <a:p>
            <a:pPr lvl="0" algn="just"/>
            <a:endParaRPr lang="en-US" sz="2800" dirty="0">
              <a:latin typeface="Times New Roman" panose="02020603050405020304" pitchFamily="18" charset="0"/>
              <a:cs typeface="Times New Roman" panose="02020603050405020304" pitchFamily="18" charset="0"/>
            </a:endParaRPr>
          </a:p>
          <a:p>
            <a:pPr marL="457200" lvl="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New Materials</a:t>
            </a:r>
            <a:r>
              <a:rPr lang="en-US" sz="2800" dirty="0">
                <a:latin typeface="Times New Roman" panose="02020603050405020304" pitchFamily="18" charset="0"/>
                <a:cs typeface="Times New Roman" panose="02020603050405020304" pitchFamily="18" charset="0"/>
              </a:rPr>
              <a:t>- New smart materials that are self-healing, self-cleaning, and metals with memory (which can revert back to their original shapes) are being invented. For example – </a:t>
            </a:r>
            <a:r>
              <a:rPr lang="en-US" sz="2800" dirty="0">
                <a:solidFill>
                  <a:srgbClr val="FF0000"/>
                </a:solidFill>
                <a:latin typeface="Times New Roman" panose="02020603050405020304" pitchFamily="18" charset="0"/>
                <a:cs typeface="Times New Roman" panose="02020603050405020304" pitchFamily="18" charset="0"/>
              </a:rPr>
              <a:t>Graphene</a:t>
            </a:r>
            <a:r>
              <a:rPr lang="en-US" sz="2800" dirty="0">
                <a:latin typeface="Times New Roman" panose="02020603050405020304" pitchFamily="18" charset="0"/>
                <a:cs typeface="Times New Roman" panose="02020603050405020304" pitchFamily="18" charset="0"/>
              </a:rPr>
              <a:t>, an advanced material which is 200 times stronger than steel, one million times thinner than human hair and also a good conductor of heat and electricity has been discovered.</a:t>
            </a:r>
          </a:p>
        </p:txBody>
      </p:sp>
    </p:spTree>
    <p:extLst>
      <p:ext uri="{BB962C8B-B14F-4D97-AF65-F5344CB8AC3E}">
        <p14:creationId xmlns:p14="http://schemas.microsoft.com/office/powerpoint/2010/main" val="258536138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2800" dirty="0">
                <a:solidFill>
                  <a:srgbClr val="FF0000"/>
                </a:solidFill>
                <a:latin typeface="Times New Roman" panose="02020603050405020304" pitchFamily="18" charset="0"/>
                <a:cs typeface="Times New Roman" panose="02020603050405020304" pitchFamily="18" charset="0"/>
              </a:rPr>
              <a:t>Fourth Industrial Revolution (4IR)</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Digital </a:t>
            </a:r>
            <a:r>
              <a:rPr lang="en-US" sz="2800" dirty="0" err="1">
                <a:solidFill>
                  <a:srgbClr val="FF0000"/>
                </a:solidFill>
                <a:latin typeface="Times New Roman" panose="02020603050405020304" pitchFamily="18" charset="0"/>
                <a:cs typeface="Times New Roman" panose="02020603050405020304" pitchFamily="18" charset="0"/>
              </a:rPr>
              <a:t>MegaTrend</a:t>
            </a:r>
            <a:endParaRPr lang="en-US" sz="2800" dirty="0">
              <a:solidFill>
                <a:srgbClr val="FF0000"/>
              </a:solidFill>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Internet of Things (</a:t>
            </a:r>
            <a:r>
              <a:rPr lang="en-US" sz="2800" dirty="0" err="1">
                <a:solidFill>
                  <a:srgbClr val="FF0000"/>
                </a:solidFill>
                <a:latin typeface="Times New Roman" panose="02020603050405020304" pitchFamily="18" charset="0"/>
                <a:cs typeface="Times New Roman" panose="02020603050405020304" pitchFamily="18" charset="0"/>
              </a:rPr>
              <a:t>IoT</a:t>
            </a:r>
            <a:r>
              <a:rPr lang="en-US" sz="2800" dirty="0">
                <a:solidFill>
                  <a:srgbClr val="FF0000"/>
                </a:solidFill>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This describes physical objects with sensors, processing ability, software and other technologies that connect and exchange data with other devise and systems over the internet or other communication networks.</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Billions of devices – smartphones, tablets, and computers are connected to the Internet and also interconnected.</a:t>
            </a:r>
          </a:p>
          <a:p>
            <a:pPr algn="just"/>
            <a:r>
              <a:rPr lang="en-US" sz="2800" dirty="0">
                <a:latin typeface="Times New Roman" panose="02020603050405020304" pitchFamily="18" charset="0"/>
                <a:cs typeface="Times New Roman" panose="02020603050405020304" pitchFamily="18" charset="0"/>
              </a:rPr>
              <a:t> </a:t>
            </a:r>
          </a:p>
          <a:p>
            <a:pPr algn="just"/>
            <a:r>
              <a:rPr lang="en-US" sz="2800" dirty="0">
                <a:solidFill>
                  <a:srgbClr val="FF0000"/>
                </a:solidFill>
                <a:latin typeface="Times New Roman" panose="02020603050405020304" pitchFamily="18" charset="0"/>
                <a:cs typeface="Times New Roman" panose="02020603050405020304" pitchFamily="18" charset="0"/>
              </a:rPr>
              <a:t>Such monitoring systems can be used to monitor movement and trailing of objects and people.</a:t>
            </a:r>
          </a:p>
        </p:txBody>
      </p:sp>
    </p:spTree>
    <p:extLst>
      <p:ext uri="{BB962C8B-B14F-4D97-AF65-F5344CB8AC3E}">
        <p14:creationId xmlns:p14="http://schemas.microsoft.com/office/powerpoint/2010/main" val="200589674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2800" dirty="0">
                <a:solidFill>
                  <a:srgbClr val="FF0000"/>
                </a:solidFill>
                <a:latin typeface="Times New Roman" panose="02020603050405020304" pitchFamily="18" charset="0"/>
                <a:cs typeface="Times New Roman" panose="02020603050405020304" pitchFamily="18" charset="0"/>
              </a:rPr>
              <a:t>Fourth Industrial Revolution (4IR)</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Biological </a:t>
            </a:r>
            <a:r>
              <a:rPr lang="en-US" sz="2800" dirty="0" err="1">
                <a:solidFill>
                  <a:srgbClr val="FF0000"/>
                </a:solidFill>
                <a:latin typeface="Times New Roman" panose="02020603050405020304" pitchFamily="18" charset="0"/>
                <a:cs typeface="Times New Roman" panose="02020603050405020304" pitchFamily="18" charset="0"/>
              </a:rPr>
              <a:t>MegaTrend</a:t>
            </a:r>
            <a:endParaRPr lang="en-US" sz="2800" dirty="0">
              <a:solidFill>
                <a:srgbClr val="FF0000"/>
              </a:solidFill>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These trends are mainly in Genetics, not in the realm of simple biotechnology, or bioengineering or genetic modification. Huge computing power in the field of Bioinformatics has made it possible.</a:t>
            </a:r>
          </a:p>
          <a:p>
            <a:pPr algn="just"/>
            <a:r>
              <a:rPr lang="en-US" sz="2800" dirty="0">
                <a:latin typeface="Times New Roman" panose="02020603050405020304" pitchFamily="18" charset="0"/>
                <a:cs typeface="Times New Roman" panose="02020603050405020304" pitchFamily="18" charset="0"/>
              </a:rPr>
              <a:t> </a:t>
            </a:r>
          </a:p>
          <a:p>
            <a:pPr algn="just"/>
            <a:r>
              <a:rPr lang="en-US" sz="2800" dirty="0">
                <a:solidFill>
                  <a:srgbClr val="FF0000"/>
                </a:solidFill>
                <a:latin typeface="Times New Roman" panose="02020603050405020304" pitchFamily="18" charset="0"/>
                <a:cs typeface="Times New Roman" panose="02020603050405020304" pitchFamily="18" charset="0"/>
              </a:rPr>
              <a:t>Some of its benefits are:</a:t>
            </a:r>
          </a:p>
          <a:p>
            <a:pPr algn="just"/>
            <a:endParaRPr lang="en-US" sz="2800" dirty="0">
              <a:latin typeface="Times New Roman" panose="02020603050405020304" pitchFamily="18" charset="0"/>
              <a:cs typeface="Times New Roman" panose="02020603050405020304" pitchFamily="18" charset="0"/>
            </a:endParaRPr>
          </a:p>
          <a:p>
            <a:pPr marL="457200" lvl="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Increasing ease of gene sequencing</a:t>
            </a:r>
          </a:p>
          <a:p>
            <a:pPr marL="457200" lvl="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Gene activation</a:t>
            </a:r>
          </a:p>
          <a:p>
            <a:pPr marL="457200" lvl="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Gene editing- ability to edit DNA and alter traits</a:t>
            </a:r>
          </a:p>
          <a:p>
            <a:pPr marL="457200" lvl="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Synthetic biology – ability to customize by writing DNA</a:t>
            </a:r>
          </a:p>
        </p:txBody>
      </p:sp>
    </p:spTree>
    <p:extLst>
      <p:ext uri="{BB962C8B-B14F-4D97-AF65-F5344CB8AC3E}">
        <p14:creationId xmlns:p14="http://schemas.microsoft.com/office/powerpoint/2010/main" val="163323382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2800" dirty="0">
                <a:solidFill>
                  <a:srgbClr val="FF0000"/>
                </a:solidFill>
                <a:latin typeface="Times New Roman" panose="02020603050405020304" pitchFamily="18" charset="0"/>
                <a:cs typeface="Times New Roman" panose="02020603050405020304" pitchFamily="18" charset="0"/>
              </a:rPr>
              <a:t>Fourth Industrial Revolution (4IR)</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How do I prepare to manage the impacts of the Fourth Industrial Revolution (4IR)?</a:t>
            </a:r>
          </a:p>
          <a:p>
            <a:pPr algn="just"/>
            <a:r>
              <a:rPr lang="en-US" sz="2800" dirty="0">
                <a:latin typeface="Times New Roman" panose="02020603050405020304" pitchFamily="18" charset="0"/>
                <a:cs typeface="Times New Roman" panose="02020603050405020304" pitchFamily="18" charset="0"/>
              </a:rPr>
              <a:t> </a:t>
            </a:r>
          </a:p>
          <a:p>
            <a:pPr algn="just"/>
            <a:r>
              <a:rPr lang="en-US" sz="2800" dirty="0">
                <a:latin typeface="Times New Roman" panose="02020603050405020304" pitchFamily="18" charset="0"/>
                <a:cs typeface="Times New Roman" panose="02020603050405020304" pitchFamily="18" charset="0"/>
              </a:rPr>
              <a:t>We can navigate the disruption and confusing tendencies of the 4IR by:</a:t>
            </a:r>
          </a:p>
          <a:p>
            <a:pPr marL="457200" lvl="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Harnessing the benefits, and</a:t>
            </a:r>
          </a:p>
          <a:p>
            <a:pPr marL="457200" lvl="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Mitigating the disruptive influences.</a:t>
            </a:r>
          </a:p>
          <a:p>
            <a:pPr algn="just"/>
            <a:r>
              <a:rPr lang="en-US" sz="2800" dirty="0">
                <a:latin typeface="Times New Roman" panose="02020603050405020304" pitchFamily="18" charset="0"/>
                <a:cs typeface="Times New Roman" panose="02020603050405020304" pitchFamily="18" charset="0"/>
              </a:rPr>
              <a:t> </a:t>
            </a:r>
          </a:p>
          <a:p>
            <a:pPr algn="just"/>
            <a:r>
              <a:rPr lang="en-US" sz="2800" dirty="0">
                <a:latin typeface="Times New Roman" panose="02020603050405020304" pitchFamily="18" charset="0"/>
                <a:cs typeface="Times New Roman" panose="02020603050405020304" pitchFamily="18" charset="0"/>
              </a:rPr>
              <a:t>The fourth industrial revolution may be driving disruption, but the challenges it presents are of our own making.</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We can only meaningfully address these challenges if we mobilize the collective wisdom of our minds, hearts and souls. </a:t>
            </a:r>
          </a:p>
        </p:txBody>
      </p:sp>
    </p:spTree>
    <p:extLst>
      <p:ext uri="{BB962C8B-B14F-4D97-AF65-F5344CB8AC3E}">
        <p14:creationId xmlns:p14="http://schemas.microsoft.com/office/powerpoint/2010/main" val="28937708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2800" dirty="0">
                <a:solidFill>
                  <a:srgbClr val="FF0000"/>
                </a:solidFill>
                <a:latin typeface="Times New Roman" panose="02020603050405020304" pitchFamily="18" charset="0"/>
                <a:cs typeface="Times New Roman" panose="02020603050405020304" pitchFamily="18" charset="0"/>
              </a:rPr>
              <a:t>Fourth Industrial Revolution (4IR)</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How do I prepare to manage the impacts of the Fourth Industrial Revolution (4IR)?</a:t>
            </a:r>
          </a:p>
          <a:p>
            <a:pPr algn="just"/>
            <a:r>
              <a:rPr lang="en-US" sz="2800" dirty="0">
                <a:latin typeface="Times New Roman" panose="02020603050405020304" pitchFamily="18" charset="0"/>
                <a:cs typeface="Times New Roman" panose="02020603050405020304" pitchFamily="18" charset="0"/>
              </a:rPr>
              <a:t> </a:t>
            </a:r>
          </a:p>
          <a:p>
            <a:pPr algn="just"/>
            <a:r>
              <a:rPr lang="en-US" sz="2800" dirty="0">
                <a:latin typeface="Times New Roman" panose="02020603050405020304" pitchFamily="18" charset="0"/>
                <a:cs typeface="Times New Roman" panose="02020603050405020304" pitchFamily="18" charset="0"/>
              </a:rPr>
              <a:t>To do so, we must adapt, shape and harness the potential of disruption by nurturing and applying four different types of intelligence:</a:t>
            </a: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Contextual intelligence:</a:t>
            </a:r>
            <a:r>
              <a:rPr lang="en-US" sz="2800" dirty="0">
                <a:latin typeface="Times New Roman" panose="02020603050405020304" pitchFamily="18" charset="0"/>
                <a:cs typeface="Times New Roman" panose="02020603050405020304" pitchFamily="18" charset="0"/>
              </a:rPr>
              <a:t> Having to do with the mind. This is about how we understand and apply our knowledge. It is a prerequisite for adaptation and survival.</a:t>
            </a:r>
          </a:p>
          <a:p>
            <a:pPr marL="457200" indent="-457200" algn="just">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Emotional intellective:</a:t>
            </a:r>
            <a:r>
              <a:rPr lang="en-US" sz="2800" dirty="0">
                <a:latin typeface="Times New Roman" panose="02020603050405020304" pitchFamily="18" charset="0"/>
                <a:cs typeface="Times New Roman" panose="02020603050405020304" pitchFamily="18" charset="0"/>
              </a:rPr>
              <a:t> Having to do with the heart. This is about how we process and integrate our thoughts and feelings and relate to ourselves and to one another. </a:t>
            </a:r>
          </a:p>
        </p:txBody>
      </p:sp>
    </p:spTree>
    <p:extLst>
      <p:ext uri="{BB962C8B-B14F-4D97-AF65-F5344CB8AC3E}">
        <p14:creationId xmlns:p14="http://schemas.microsoft.com/office/powerpoint/2010/main" val="117480858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2800" dirty="0">
                <a:solidFill>
                  <a:srgbClr val="FF0000"/>
                </a:solidFill>
                <a:latin typeface="Times New Roman" panose="02020603050405020304" pitchFamily="18" charset="0"/>
                <a:cs typeface="Times New Roman" panose="02020603050405020304" pitchFamily="18" charset="0"/>
              </a:rPr>
              <a:t>Fourth Industrial Revolution (4IR)</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How do I prepare to manage the impacts of the Fourth Industrial Revolution (4IR)?</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a:t>
            </a: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Inspired intelligence:</a:t>
            </a:r>
            <a:r>
              <a:rPr lang="en-US" sz="2800" dirty="0">
                <a:latin typeface="Times New Roman" panose="02020603050405020304" pitchFamily="18" charset="0"/>
                <a:cs typeface="Times New Roman" panose="02020603050405020304" pitchFamily="18" charset="0"/>
              </a:rPr>
              <a:t> Having to do with the soul. This is about inspiration from the spiritual realm. Alongside contextual and emotional intelligence, there is a third critical component for effectively navigating the fourth industrial revolution. </a:t>
            </a:r>
          </a:p>
        </p:txBody>
      </p:sp>
    </p:spTree>
    <p:extLst>
      <p:ext uri="{BB962C8B-B14F-4D97-AF65-F5344CB8AC3E}">
        <p14:creationId xmlns:p14="http://schemas.microsoft.com/office/powerpoint/2010/main" val="246122610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2800" dirty="0">
                <a:solidFill>
                  <a:srgbClr val="FF0000"/>
                </a:solidFill>
                <a:latin typeface="Times New Roman" panose="02020603050405020304" pitchFamily="18" charset="0"/>
                <a:cs typeface="Times New Roman" panose="02020603050405020304" pitchFamily="18" charset="0"/>
              </a:rPr>
              <a:t>Fourth Industrial Revolution (4IR)</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algn="just"/>
            <a:r>
              <a:rPr lang="en-US" sz="2800" dirty="0">
                <a:solidFill>
                  <a:srgbClr val="FF0000"/>
                </a:solidFill>
                <a:latin typeface="Times New Roman" panose="02020603050405020304" pitchFamily="18" charset="0"/>
                <a:cs typeface="Times New Roman" panose="02020603050405020304" pitchFamily="18" charset="0"/>
              </a:rPr>
              <a:t>How do I prepare to manage the impacts of the Fourth Industrial Revolution (4IR)?</a:t>
            </a:r>
          </a:p>
          <a:p>
            <a:pPr algn="just"/>
            <a:r>
              <a:rPr lang="en-US" sz="2800" dirty="0">
                <a:latin typeface="Times New Roman" panose="02020603050405020304" pitchFamily="18" charset="0"/>
                <a:cs typeface="Times New Roman" panose="02020603050405020304" pitchFamily="18" charset="0"/>
              </a:rPr>
              <a:t> </a:t>
            </a: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Physical intelligence:</a:t>
            </a:r>
            <a:r>
              <a:rPr lang="en-US" sz="2800" dirty="0">
                <a:latin typeface="Times New Roman" panose="02020603050405020304" pitchFamily="18" charset="0"/>
                <a:cs typeface="Times New Roman" panose="02020603050405020304" pitchFamily="18" charset="0"/>
              </a:rPr>
              <a:t> Having to do with the body. This is about self-preservation. Contextual, emotional and inspired intelligence are all essential attributes for coping with, and benefitting from, the 4IR.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physical intelligence involves supporting and nourishing personal health and well-being.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Advances such as implantable technologies, telemedicine have positive effects on our physical intelligence </a:t>
            </a:r>
            <a:r>
              <a:rPr lang="en-US" sz="2800" dirty="0">
                <a:solidFill>
                  <a:srgbClr val="FF0000"/>
                </a:solidFill>
                <a:latin typeface="Times New Roman" panose="02020603050405020304" pitchFamily="18" charset="0"/>
                <a:cs typeface="Times New Roman" panose="02020603050405020304" pitchFamily="18" charset="0"/>
              </a:rPr>
              <a:t>BUT</a:t>
            </a: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502845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CustomShape 1"/>
          <p:cNvSpPr/>
          <p:nvPr/>
        </p:nvSpPr>
        <p:spPr>
          <a:xfrm>
            <a:off x="0" y="0"/>
            <a:ext cx="9143640" cy="685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2800" dirty="0">
                <a:solidFill>
                  <a:srgbClr val="FF0000"/>
                </a:solidFill>
                <a:latin typeface="Times New Roman" panose="02020603050405020304" pitchFamily="18" charset="0"/>
                <a:cs typeface="Times New Roman" panose="02020603050405020304" pitchFamily="18" charset="0"/>
              </a:rPr>
              <a:t>Impacts of Fourth Industrial Revolution (4IR) on Value-addition in Food Systems:</a:t>
            </a:r>
          </a:p>
          <a:p>
            <a:pPr algn="just"/>
            <a:endParaRPr lang="en-US" sz="2800" dirty="0">
              <a:solidFill>
                <a:srgbClr val="FF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Enhanced processing and efficiency</a:t>
            </a:r>
            <a:r>
              <a:rPr lang="en-US" sz="2800" dirty="0">
                <a:latin typeface="Times New Roman" panose="02020603050405020304" pitchFamily="18" charset="0"/>
                <a:cs typeface="Times New Roman" panose="02020603050405020304" pitchFamily="18" charset="0"/>
              </a:rPr>
              <a:t> – automation and robotics; </a:t>
            </a:r>
            <a:r>
              <a:rPr lang="en-US" sz="2800" dirty="0" err="1">
                <a:latin typeface="Times New Roman" panose="02020603050405020304" pitchFamily="18" charset="0"/>
                <a:cs typeface="Times New Roman" panose="02020603050405020304" pitchFamily="18" charset="0"/>
              </a:rPr>
              <a:t>IoT</a:t>
            </a:r>
            <a:r>
              <a:rPr lang="en-US" sz="2800" dirty="0">
                <a:latin typeface="Times New Roman" panose="02020603050405020304" pitchFamily="18" charset="0"/>
                <a:cs typeface="Times New Roman" panose="02020603050405020304" pitchFamily="18" charset="0"/>
              </a:rPr>
              <a:t> and smart sensors</a:t>
            </a:r>
          </a:p>
          <a:p>
            <a:pPr marL="457200" indent="-457200" algn="just">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Improved product quality and innovation</a:t>
            </a:r>
            <a:r>
              <a:rPr lang="en-US" sz="2800" dirty="0">
                <a:latin typeface="Times New Roman" panose="02020603050405020304" pitchFamily="18" charset="0"/>
                <a:cs typeface="Times New Roman" panose="02020603050405020304" pitchFamily="18" charset="0"/>
              </a:rPr>
              <a:t> – AI and machine learning; 3D food printing;</a:t>
            </a:r>
          </a:p>
          <a:p>
            <a:pPr marL="457200" indent="-457200" algn="just">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Supply chain optimization</a:t>
            </a:r>
            <a:r>
              <a:rPr lang="en-US" sz="2800" dirty="0">
                <a:latin typeface="Times New Roman" panose="02020603050405020304" pitchFamily="18" charset="0"/>
                <a:cs typeface="Times New Roman" panose="02020603050405020304" pitchFamily="18" charset="0"/>
              </a:rPr>
              <a:t> – block chain and traceability; cold chain technologies </a:t>
            </a:r>
          </a:p>
          <a:p>
            <a:pPr marL="457200" indent="-457200" algn="just">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a:solidFill>
                  <a:srgbClr val="FF0000"/>
                </a:solidFill>
                <a:latin typeface="Times New Roman" panose="02020603050405020304" pitchFamily="18" charset="0"/>
                <a:cs typeface="Times New Roman" panose="02020603050405020304" pitchFamily="18" charset="0"/>
              </a:rPr>
              <a:t>Consumer – centric value addition</a:t>
            </a:r>
            <a:r>
              <a:rPr lang="en-US" sz="2800" dirty="0">
                <a:latin typeface="Times New Roman" panose="02020603050405020304" pitchFamily="18" charset="0"/>
                <a:cs typeface="Times New Roman" panose="02020603050405020304" pitchFamily="18" charset="0"/>
              </a:rPr>
              <a:t> – big data and AI; smart packaging; </a:t>
            </a:r>
          </a:p>
        </p:txBody>
      </p:sp>
    </p:spTree>
    <p:extLst>
      <p:ext uri="{BB962C8B-B14F-4D97-AF65-F5344CB8AC3E}">
        <p14:creationId xmlns:p14="http://schemas.microsoft.com/office/powerpoint/2010/main" val="66045500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CustomShape 1"/>
          <p:cNvSpPr/>
          <p:nvPr/>
        </p:nvSpPr>
        <p:spPr>
          <a:xfrm>
            <a:off x="0" y="0"/>
            <a:ext cx="9144000" cy="6858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2800" b="0" strike="noStrike" spc="-1" dirty="0">
              <a:solidFill>
                <a:srgbClr val="000000"/>
              </a:solidFill>
              <a:uFill>
                <a:solidFill>
                  <a:srgbClr val="FFFFFF"/>
                </a:solidFill>
              </a:uFill>
              <a:latin typeface="Times New Roman" panose="02020603050405020304" pitchFamily="18" charset="0"/>
              <a:cs typeface="Times New Roman" panose="02020603050405020304" pitchFamily="18" charset="0"/>
            </a:endParaRPr>
          </a:p>
          <a:p>
            <a:pPr algn="ctr">
              <a:lnSpc>
                <a:spcPct val="100000"/>
              </a:lnSpc>
            </a:pPr>
            <a:r>
              <a:rPr lang="en-US" sz="3600" spc="-1" dirty="0">
                <a:solidFill>
                  <a:srgbClr val="FF0000"/>
                </a:solidFill>
                <a:uFill>
                  <a:solidFill>
                    <a:srgbClr val="FFFFFF"/>
                  </a:solidFill>
                </a:uFill>
                <a:latin typeface="Times New Roman" panose="02020603050405020304" pitchFamily="18" charset="0"/>
                <a:cs typeface="Times New Roman" panose="02020603050405020304" pitchFamily="18" charset="0"/>
              </a:rPr>
              <a:t>Now that 5IR is fast approaching, what are your Plans/Preparations?</a:t>
            </a:r>
            <a:endParaRPr lang="en-US" sz="3600" b="0" strike="noStrike" spc="-1" dirty="0">
              <a:solidFill>
                <a:srgbClr val="FF0000"/>
              </a:solidFill>
              <a:uFill>
                <a:solidFill>
                  <a:srgbClr val="FFFFFF"/>
                </a:solidFill>
              </a:u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610436"/>
            <a:ext cx="9144000" cy="4981433"/>
          </a:xfrm>
          <a:prstGeom prst="rect">
            <a:avLst/>
          </a:prstGeom>
        </p:spPr>
      </p:pic>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7"/>
                                        </p:tgtEl>
                                        <p:attrNameLst>
                                          <p:attrName>style.visibility</p:attrName>
                                        </p:attrNameLst>
                                      </p:cBhvr>
                                      <p:to>
                                        <p:strVal val="visible"/>
                                      </p:to>
                                    </p:set>
                                    <p:anim calcmode="lin" valueType="num">
                                      <p:cBhvr additive="repl">
                                        <p:cTn id="7" dur="3000" fill="hold"/>
                                        <p:tgtEl>
                                          <p:spTgt spid="277"/>
                                        </p:tgtEl>
                                        <p:attrNameLst>
                                          <p:attrName>ppt_x</p:attrName>
                                        </p:attrNameLst>
                                      </p:cBhvr>
                                      <p:tavLst>
                                        <p:tav tm="0">
                                          <p:val>
                                            <p:strVal val="0-#ppt_w/2"/>
                                          </p:val>
                                        </p:tav>
                                        <p:tav tm="100000">
                                          <p:val>
                                            <p:strVal val="#ppt_x"/>
                                          </p:val>
                                        </p:tav>
                                      </p:tavLst>
                                    </p:anim>
                                    <p:anim calcmode="lin" valueType="num">
                                      <p:cBhvr additive="repl">
                                        <p:cTn id="8" dur="3000" fill="hold"/>
                                        <p:tgtEl>
                                          <p:spTgt spid="2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CustomShape 1"/>
          <p:cNvSpPr/>
          <p:nvPr/>
        </p:nvSpPr>
        <p:spPr>
          <a:xfrm>
            <a:off x="285840" y="357120"/>
            <a:ext cx="8499960" cy="6071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endParaRPr lang="en-US" sz="1800" b="0" strike="noStrike" spc="-1" dirty="0">
              <a:solidFill>
                <a:srgbClr val="000000"/>
              </a:solidFill>
              <a:uFill>
                <a:solidFill>
                  <a:srgbClr val="FFFFFF"/>
                </a:solidFill>
              </a:uFill>
              <a:latin typeface="Arial"/>
            </a:endParaRPr>
          </a:p>
          <a:p>
            <a:pPr>
              <a:lnSpc>
                <a:spcPct val="100000"/>
              </a:lnSpc>
            </a:pPr>
            <a:endParaRPr lang="en-US" sz="1800" b="0" strike="noStrike" spc="-1" dirty="0">
              <a:solidFill>
                <a:srgbClr val="000000"/>
              </a:solidFill>
              <a:uFill>
                <a:solidFill>
                  <a:srgbClr val="FFFFFF"/>
                </a:solidFill>
              </a:uFill>
              <a:latin typeface="Arial"/>
            </a:endParaRPr>
          </a:p>
          <a:p>
            <a:pPr algn="ctr">
              <a:lnSpc>
                <a:spcPct val="100000"/>
              </a:lnSpc>
            </a:pPr>
            <a:endParaRPr lang="en-US" sz="1800" b="0" strike="noStrike" spc="-1" dirty="0">
              <a:solidFill>
                <a:srgbClr val="000000"/>
              </a:solidFill>
              <a:uFill>
                <a:solidFill>
                  <a:srgbClr val="FFFFFF"/>
                </a:solidFill>
              </a:uFill>
              <a:latin typeface="Arial"/>
            </a:endParaRPr>
          </a:p>
          <a:p>
            <a:pPr algn="ctr">
              <a:lnSpc>
                <a:spcPct val="100000"/>
              </a:lnSpc>
            </a:pPr>
            <a:endParaRPr lang="en-US" sz="6000" b="0" strike="noStrike" spc="-1" dirty="0">
              <a:solidFill>
                <a:srgbClr val="000000"/>
              </a:solidFill>
              <a:uFill>
                <a:solidFill>
                  <a:srgbClr val="FFFFFF"/>
                </a:solidFill>
              </a:uFill>
              <a:latin typeface="Candara"/>
            </a:endParaRPr>
          </a:p>
          <a:p>
            <a:pPr algn="ctr">
              <a:lnSpc>
                <a:spcPct val="100000"/>
              </a:lnSpc>
            </a:pPr>
            <a:r>
              <a:rPr lang="en-US" sz="6000" b="0" strike="noStrike" spc="-1" dirty="0">
                <a:solidFill>
                  <a:srgbClr val="000000"/>
                </a:solidFill>
                <a:uFill>
                  <a:solidFill>
                    <a:srgbClr val="FFFFFF"/>
                  </a:solidFill>
                </a:uFill>
                <a:latin typeface="Candara"/>
              </a:rPr>
              <a:t>THANK YOU ALL FOR YOUR ATTENTION!</a:t>
            </a:r>
            <a:endParaRPr lang="en-US" sz="1800" b="0" strike="noStrike" spc="-1" dirty="0">
              <a:solidFill>
                <a:srgbClr val="000000"/>
              </a:solidFill>
              <a:uFill>
                <a:solidFill>
                  <a:srgbClr val="FFFFFF"/>
                </a:solidFill>
              </a:uFill>
              <a:latin typeface="Arial"/>
            </a:endParaRPr>
          </a:p>
        </p:txBody>
      </p:sp>
      <p:pic>
        <p:nvPicPr>
          <p:cNvPr id="3" name="Picture 2"/>
          <p:cNvPicPr>
            <a:picLocks noChangeAspect="1"/>
          </p:cNvPicPr>
          <p:nvPr/>
        </p:nvPicPr>
        <p:blipFill>
          <a:blip r:embed="rId2"/>
          <a:stretch>
            <a:fillRect/>
          </a:stretch>
        </p:blipFill>
        <p:spPr>
          <a:xfrm>
            <a:off x="185726" y="235001"/>
            <a:ext cx="1511939" cy="1365622"/>
          </a:xfrm>
          <a:prstGeom prst="rect">
            <a:avLst/>
          </a:prstGeom>
        </p:spPr>
      </p:pic>
    </p:spTree>
    <p:extLst>
      <p:ext uri="{BB962C8B-B14F-4D97-AF65-F5344CB8AC3E}">
        <p14:creationId xmlns:p14="http://schemas.microsoft.com/office/powerpoint/2010/main" val="3488237668"/>
      </p:ext>
    </p:extLst>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7"/>
                                        </p:tgtEl>
                                        <p:attrNameLst>
                                          <p:attrName>style.visibility</p:attrName>
                                        </p:attrNameLst>
                                      </p:cBhvr>
                                      <p:to>
                                        <p:strVal val="visible"/>
                                      </p:to>
                                    </p:set>
                                    <p:anim calcmode="lin" valueType="num">
                                      <p:cBhvr additive="repl">
                                        <p:cTn id="7" dur="3000" fill="hold"/>
                                        <p:tgtEl>
                                          <p:spTgt spid="277"/>
                                        </p:tgtEl>
                                        <p:attrNameLst>
                                          <p:attrName>ppt_x</p:attrName>
                                        </p:attrNameLst>
                                      </p:cBhvr>
                                      <p:tavLst>
                                        <p:tav tm="0">
                                          <p:val>
                                            <p:strVal val="0-#ppt_w/2"/>
                                          </p:val>
                                        </p:tav>
                                        <p:tav tm="100000">
                                          <p:val>
                                            <p:strVal val="#ppt_x"/>
                                          </p:val>
                                        </p:tav>
                                      </p:tavLst>
                                    </p:anim>
                                    <p:anim calcmode="lin" valueType="num">
                                      <p:cBhvr additive="repl">
                                        <p:cTn id="8" dur="3000" fill="hold"/>
                                        <p:tgtEl>
                                          <p:spTgt spid="2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36941</TotalTime>
  <Words>2262</Words>
  <Application>Microsoft Office PowerPoint</Application>
  <PresentationFormat>On-screen Show (4:3)</PresentationFormat>
  <Paragraphs>297</Paragraphs>
  <Slides>39</Slides>
  <Notes>1</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39</vt:i4>
      </vt:variant>
    </vt:vector>
  </HeadingPairs>
  <TitlesOfParts>
    <vt:vector size="52" baseType="lpstr">
      <vt:lpstr>Arial</vt:lpstr>
      <vt:lpstr>Calibri</vt:lpstr>
      <vt:lpstr>Calibri Light</vt:lpstr>
      <vt:lpstr>Cambria Math</vt:lpstr>
      <vt:lpstr>Candara</vt:lpstr>
      <vt:lpstr>Segoe UI Semibold</vt:lpstr>
      <vt:lpstr>Symbol</vt:lpstr>
      <vt:lpstr>Times New Roman</vt:lpstr>
      <vt:lpstr>Wingdings</vt:lpstr>
      <vt:lpstr>Office Theme</vt:lpstr>
      <vt:lpstr>Office Theme</vt:lpstr>
      <vt:lpstr>Office Theme</vt:lpstr>
      <vt:lpstr>1_Office Theme</vt:lpstr>
      <vt:lpstr>FOOD SCIENCE AND ENGINEERING, VALUE –ADDITION AND  NATIONAL DEVELOPMENT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Properties of Kariya (Hildegardia barteri) Seed and Oil</dc:title>
  <dc:subject/>
  <dc:creator>KIKE POPOOLA</dc:creator>
  <dc:description/>
  <cp:lastModifiedBy>Adewale Adebayo</cp:lastModifiedBy>
  <cp:revision>571</cp:revision>
  <dcterms:created xsi:type="dcterms:W3CDTF">2013-03-09T20:21:52Z</dcterms:created>
  <dcterms:modified xsi:type="dcterms:W3CDTF">2026-09-15T08:39:56Z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Company">
    <vt:lpwstr>HP</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27</vt:i4>
  </property>
</Properties>
</file>